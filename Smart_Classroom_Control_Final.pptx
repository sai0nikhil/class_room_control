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3931920" cy="365760"/>
          </a:xfrm>
          <a:prstGeom prst="roundRect">
            <a:avLst/>
          </a:prstGeom>
          <a:solidFill>
            <a:srgbClr val="F5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C4553A"/>
                </a:solidFill>
                <a:latin typeface="Segoe UI"/>
              </a:defRPr>
            </a:pPr>
            <a:r>
              <a:t>EMBEDDED SYSTEMS &amp; SMART AUTOMATION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Segoe UI"/>
              </a:defRPr>
            </a:pPr>
            <a:r>
              <a:t>SMART CLASSROOM CONTROL</a:t>
            </a:r>
          </a:p>
          <a:p>
            <a:pPr>
              <a:spcBef>
                <a:spcPts val="800"/>
              </a:spcBef>
              <a:defRPr sz="1700" b="1">
                <a:solidFill>
                  <a:srgbClr val="294158"/>
                </a:solidFill>
                <a:latin typeface="Segoe UI"/>
              </a:defRPr>
            </a:pPr>
            <a:r>
              <a:t>Autonomous Energy Harvesting, Bidirectional Entry Counting, Multi-Zone Climate Automation &amp; Edge ML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657600"/>
            <a:ext cx="2331720" cy="1645920"/>
          </a:xfrm>
          <a:prstGeom prst="roundRect">
            <a:avLst/>
          </a:prstGeom>
          <a:solidFill>
            <a:srgbClr val="F4F0EA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5880" y="3794760"/>
            <a:ext cx="548640" cy="73152"/>
          </a:xfrm>
          <a:prstGeom prst="round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977639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C1917"/>
                </a:solidFill>
                <a:latin typeface="Segoe UI"/>
              </a:defRPr>
            </a:pPr>
            <a:r>
              <a:t>CORTEX-M4 ARCHITECTURE</a:t>
            </a:r>
          </a:p>
          <a:p>
            <a:pPr>
              <a:spcBef>
                <a:spcPts val="400"/>
              </a:spcBef>
              <a:defRPr sz="950">
                <a:solidFill>
                  <a:srgbClr val="4B4642"/>
                </a:solidFill>
                <a:latin typeface="Segoe UI"/>
              </a:defRPr>
            </a:pPr>
            <a:r>
              <a:t>STM32F446RE 180 MHz High Performance MCU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3657600"/>
            <a:ext cx="2331720" cy="1645920"/>
          </a:xfrm>
          <a:prstGeom prst="roundRect">
            <a:avLst/>
          </a:prstGeom>
          <a:solidFill>
            <a:srgbClr val="F4F0EA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77056" y="3794760"/>
            <a:ext cx="548640" cy="73152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3977639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C1917"/>
                </a:solidFill>
                <a:latin typeface="Segoe UI"/>
              </a:defRPr>
            </a:pPr>
            <a:r>
              <a:t>ENTRY COUNTER SYSTEM</a:t>
            </a:r>
          </a:p>
          <a:p>
            <a:pPr>
              <a:spcBef>
                <a:spcPts val="400"/>
              </a:spcBef>
              <a:defRPr sz="950">
                <a:solidFill>
                  <a:srgbClr val="4B4642"/>
                </a:solidFill>
                <a:latin typeface="Segoe UI"/>
              </a:defRPr>
            </a:pPr>
            <a:r>
              <a:t>Dual IR Doorway Sequence Logic &amp; Headcount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657600"/>
            <a:ext cx="2331720" cy="1645920"/>
          </a:xfrm>
          <a:prstGeom prst="roundRect">
            <a:avLst/>
          </a:prstGeom>
          <a:solidFill>
            <a:srgbClr val="F4F0EA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8232" y="3794760"/>
            <a:ext cx="548640" cy="73152"/>
          </a:xfrm>
          <a:prstGeom prst="roundRect">
            <a:avLst/>
          </a:prstGeom>
          <a:solidFill>
            <a:srgbClr val="407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977639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C1917"/>
                </a:solidFill>
                <a:latin typeface="Segoe UI"/>
              </a:defRPr>
            </a:pPr>
            <a:r>
              <a:t>MULTI-SENSOR HARVESTING</a:t>
            </a:r>
          </a:p>
          <a:p>
            <a:pPr>
              <a:spcBef>
                <a:spcPts val="400"/>
              </a:spcBef>
              <a:defRPr sz="950">
                <a:solidFill>
                  <a:srgbClr val="4B4642"/>
                </a:solidFill>
                <a:latin typeface="Segoe UI"/>
              </a:defRPr>
            </a:pPr>
            <a:r>
              <a:t>LM35 Temp + LDR Lux + PIR Occupancy Sensing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8" y="3657600"/>
            <a:ext cx="2331720" cy="1645920"/>
          </a:xfrm>
          <a:prstGeom prst="roundRect">
            <a:avLst/>
          </a:prstGeom>
          <a:solidFill>
            <a:srgbClr val="F4F0EA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79408" y="3794760"/>
            <a:ext cx="548640" cy="73152"/>
          </a:xfrm>
          <a:prstGeom prst="roundRect">
            <a:avLst/>
          </a:prstGeom>
          <a:solidFill>
            <a:srgbClr val="CD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3977639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C1917"/>
                </a:solidFill>
                <a:latin typeface="Segoe UI"/>
              </a:defRPr>
            </a:pPr>
            <a:r>
              <a:t>TINYML &amp; VISION INTEGRATION</a:t>
            </a:r>
          </a:p>
          <a:p>
            <a:pPr>
              <a:spcBef>
                <a:spcPts val="400"/>
              </a:spcBef>
              <a:defRPr sz="950">
                <a:solidFill>
                  <a:srgbClr val="4B4642"/>
                </a:solidFill>
                <a:latin typeface="Segoe UI"/>
              </a:defRPr>
            </a:pPr>
            <a:r>
              <a:t>Edge Headcount AI &amp; Predictive HVAC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9601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069"/>
                </a:solidFill>
                <a:latin typeface="Segoe UI"/>
              </a:defRPr>
            </a:pPr>
            <a:r>
              <a:t>Target Hardware: STM32 NUCLEO-F446RE  |  Protocols: I2C, ADC, PWM, UART, EXTI  |  Firmware: STM32 HAL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The Problem: Inefficiencies in Traditional Classrooms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Modern educational campuses waste significant energy and suffer from poor presentation ergonomics.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54864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PAIN POINT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C1917"/>
                </a:solidFill>
              </a:defRPr>
            </a:pPr>
            <a:r>
              <a:t>Empty-Room Vampire Energy</a:t>
            </a:r>
          </a:p>
          <a:p>
            <a:pPr>
              <a:spcAft>
                <a:spcPts val="1400"/>
              </a:spcAft>
              <a:defRPr sz="1100">
                <a:solidFill>
                  <a:srgbClr val="4B4642"/>
                </a:solidFill>
              </a:defRPr>
            </a:pPr>
            <a:r>
              <a:t>Up to 40% of classroom electrical consumption is wasted when lights, fans, and ACs remain fully powered in empty lecture halls due to forgetfulness or lack of automated control.</a:t>
            </a:r>
          </a:p>
          <a:p>
            <a:pPr>
              <a:defRPr sz="1000" b="1">
                <a:solidFill>
                  <a:srgbClr val="C4553A"/>
                </a:solidFill>
              </a:defRPr>
            </a:pPr>
            <a:r>
              <a:t>CRITICAL CONSEQUENCE:</a:t>
            </a:r>
          </a:p>
          <a:p>
            <a:pPr>
              <a:spcBef>
                <a:spcPts val="300"/>
              </a:spcBef>
              <a:defRPr sz="1050">
                <a:solidFill>
                  <a:srgbClr val="4B4642"/>
                </a:solidFill>
              </a:defRPr>
            </a:pPr>
            <a:r>
              <a:t>Impact: Massive university utility costs and accelerated equipment burnout.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645920"/>
            <a:ext cx="3328416" cy="548640"/>
          </a:xfrm>
          <a:prstGeom prst="rect">
            <a:avLst/>
          </a:prstGeom>
          <a:solidFill>
            <a:srgbClr val="CD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PAIN POINT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37744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C1917"/>
                </a:solidFill>
              </a:defRPr>
            </a:pPr>
            <a:r>
              <a:t>Projector Screen Glare &amp; Eye Fatigue</a:t>
            </a:r>
          </a:p>
          <a:p>
            <a:pPr>
              <a:spcAft>
                <a:spcPts val="1400"/>
              </a:spcAft>
              <a:defRPr sz="1100">
                <a:solidFill>
                  <a:srgbClr val="4B4642"/>
                </a:solidFill>
              </a:defRPr>
            </a:pPr>
            <a:r>
              <a:t>When faculty conduct slide presentations, front-row ceiling tube lights wash out projector visibility. Switching off all lights plunges the room into darkness, preventing students from taking notes.</a:t>
            </a:r>
          </a:p>
          <a:p>
            <a:pPr>
              <a:defRPr sz="1000" b="1">
                <a:solidFill>
                  <a:srgbClr val="CD8A2A"/>
                </a:solidFill>
              </a:defRPr>
            </a:pPr>
            <a:r>
              <a:t>CRITICAL CONSEQUENCE:</a:t>
            </a:r>
          </a:p>
          <a:p>
            <a:pPr>
              <a:spcBef>
                <a:spcPts val="300"/>
              </a:spcBef>
              <a:defRPr sz="1050">
                <a:solidFill>
                  <a:srgbClr val="4B4642"/>
                </a:solidFill>
              </a:defRPr>
            </a:pPr>
            <a:r>
              <a:t>Impact: Impaired learning environment, glare headaches, and disrupted lectures.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645920"/>
            <a:ext cx="3328416" cy="548640"/>
          </a:xfrm>
          <a:prstGeom prst="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PAIN POINT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37744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C1917"/>
                </a:solidFill>
              </a:defRPr>
            </a:pPr>
            <a:r>
              <a:t>Single Sensor Blindspots (The 'Still Student' Defect)</a:t>
            </a:r>
          </a:p>
          <a:p>
            <a:pPr>
              <a:spcAft>
                <a:spcPts val="1400"/>
              </a:spcAft>
              <a:defRPr sz="1100">
                <a:solidFill>
                  <a:srgbClr val="4B4642"/>
                </a:solidFill>
              </a:defRPr>
            </a:pPr>
            <a:r>
              <a:t>Conventional PIR motion sensors detect only moving bodies. When students sit still taking notes or exams, PIR timers expire, abruptly cutting power and turning off lights unexpectedly.</a:t>
            </a:r>
          </a:p>
          <a:p>
            <a:pPr>
              <a:defRPr sz="1000" b="1">
                <a:solidFill>
                  <a:srgbClr val="294158"/>
                </a:solidFill>
              </a:defRPr>
            </a:pPr>
            <a:r>
              <a:t>CRITICAL CONSEQUENCE:</a:t>
            </a:r>
          </a:p>
          <a:p>
            <a:pPr>
              <a:spcBef>
                <a:spcPts val="300"/>
              </a:spcBef>
              <a:defRPr sz="1050">
                <a:solidFill>
                  <a:srgbClr val="4B4642"/>
                </a:solidFill>
              </a:defRPr>
            </a:pPr>
            <a:r>
              <a:t>Impact: Classroom disruptions and unreliable automated power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SYSTEM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The Solution We Bring In: 5-in-1 Autonomous Controller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An integrated embedded automation hub driven by STM32F446RE for zero-waste, adaptive classrooms.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C4553A"/>
                </a:solidFill>
              </a:defRPr>
            </a:pPr>
            <a:r>
              <a:t>Core Value Proposition</a:t>
            </a:r>
          </a:p>
          <a:p>
            <a:pPr>
              <a:spcAft>
                <a:spcPts val="1600"/>
              </a:spcAft>
              <a:defRPr sz="1150">
                <a:solidFill>
                  <a:srgbClr val="4B4642"/>
                </a:solidFill>
              </a:defRPr>
            </a:pPr>
            <a:r>
              <a:t>Our solution eliminates manual human intervention entirely. By combining multi-sensor telemetry, entry counting logic, and automated dual-zone relays, the classroom becomes fully self-regulating.</a:t>
            </a:r>
          </a:p>
          <a:p>
            <a:pPr>
              <a:spcAft>
                <a:spcPts val="1200"/>
              </a:spcAft>
              <a:defRPr sz="1100" b="1">
                <a:solidFill>
                  <a:srgbClr val="294158"/>
                </a:solidFill>
              </a:defRPr>
            </a:pPr>
            <a:r>
              <a:t>KEY METRICS ACHIEVED:</a:t>
            </a:r>
            <a:br/>
            <a:r>
              <a:t>• 38.4% Average Energy Savings</a:t>
            </a:r>
            <a:br/>
            <a:r>
              <a:t>• 100% Elimination of Screen Glare</a:t>
            </a:r>
            <a:br/>
            <a:r>
              <a:t>• Real-Time Headcount Tracking</a:t>
            </a:r>
            <a:br/>
            <a:r>
              <a:t>• Fully Autonomous Zero-Touch 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70225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783080"/>
            <a:ext cx="502920" cy="530352"/>
          </a:xfrm>
          <a:prstGeom prst="round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55648"/>
            <a:ext cx="60807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C1917"/>
                </a:solidFill>
              </a:defRPr>
            </a:pPr>
            <a:r>
              <a:t>Bidirectional Entry Counter</a:t>
            </a:r>
          </a:p>
          <a:p>
            <a:pPr>
              <a:spcBef>
                <a:spcPts val="200"/>
              </a:spcBef>
              <a:defRPr sz="1000">
                <a:solidFill>
                  <a:srgbClr val="4B4642"/>
                </a:solidFill>
              </a:defRPr>
            </a:pPr>
            <a:r>
              <a:t>Dual doorway IR beams resolve entering vs exiting headcount. When headcount drops to 0, system initiates graceful sleep.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60320"/>
            <a:ext cx="70225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697480"/>
            <a:ext cx="502920" cy="530352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670048"/>
            <a:ext cx="60807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C1917"/>
                </a:solidFill>
              </a:defRPr>
            </a:pPr>
            <a:r>
              <a:t>Dual-Zone Presentation Mode</a:t>
            </a:r>
          </a:p>
          <a:p>
            <a:pPr>
              <a:spcBef>
                <a:spcPts val="200"/>
              </a:spcBef>
              <a:defRPr sz="1000">
                <a:solidFill>
                  <a:srgbClr val="4B4642"/>
                </a:solidFill>
              </a:defRPr>
            </a:pPr>
            <a:r>
              <a:t>Intelligently dims front projector lights while keeping rear student desk lights active for note-taking.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474720"/>
            <a:ext cx="70225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3611880"/>
            <a:ext cx="502920" cy="530352"/>
          </a:xfrm>
          <a:prstGeom prst="roundRect">
            <a:avLst/>
          </a:prstGeom>
          <a:solidFill>
            <a:srgbClr val="407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584448"/>
            <a:ext cx="60807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C1917"/>
                </a:solidFill>
              </a:defRPr>
            </a:pPr>
            <a:r>
              <a:t>Daylight Energy Harvesting</a:t>
            </a:r>
          </a:p>
          <a:p>
            <a:pPr>
              <a:spcBef>
                <a:spcPts val="200"/>
              </a:spcBef>
              <a:defRPr sz="1000">
                <a:solidFill>
                  <a:srgbClr val="4B4642"/>
                </a:solidFill>
              </a:defRPr>
            </a:pPr>
            <a:r>
              <a:t>LDR sensor monitors natural window daylight; dims or disables artificial lights when ambient lux is sufficient.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389120"/>
            <a:ext cx="70225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526280"/>
            <a:ext cx="502920" cy="530352"/>
          </a:xfrm>
          <a:prstGeom prst="roundRect">
            <a:avLst/>
          </a:prstGeom>
          <a:solidFill>
            <a:srgbClr val="CD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498848"/>
            <a:ext cx="60807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C1917"/>
                </a:solidFill>
              </a:defRPr>
            </a:pPr>
            <a:r>
              <a:t>Predictive Thermal Comfort</a:t>
            </a:r>
          </a:p>
          <a:p>
            <a:pPr>
              <a:spcBef>
                <a:spcPts val="200"/>
              </a:spcBef>
              <a:defRPr sz="1000">
                <a:solidFill>
                  <a:srgbClr val="4B4642"/>
                </a:solidFill>
              </a:defRPr>
            </a:pPr>
            <a:r>
              <a:t>LM35 precision temperature sensing regulates fan/AC actuation with hysteresis to prevent relay wear.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303520"/>
            <a:ext cx="70225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5440680"/>
            <a:ext cx="502920" cy="530352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413248"/>
            <a:ext cx="608076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C1917"/>
                </a:solidFill>
              </a:defRPr>
            </a:pPr>
            <a:r>
              <a:t>Real-Time Telemetry &amp; TinyML</a:t>
            </a:r>
          </a:p>
          <a:p>
            <a:pPr>
              <a:spcBef>
                <a:spcPts val="200"/>
              </a:spcBef>
              <a:defRPr sz="1000">
                <a:solidFill>
                  <a:srgbClr val="4B4642"/>
                </a:solidFill>
              </a:defRPr>
            </a:pPr>
            <a:r>
              <a:t>Streams live stats to 16x2 I2C LCD and PC serial console; ready for edge camera headcount AI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Bidirectional Classroom Entry &amp; Occupancy Counter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Solving the 'Still Student' problem by tracking real-time door crossings with dual-beam IR sensors.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4553A"/>
                </a:solidFill>
              </a:defRPr>
            </a:pPr>
            <a:r>
              <a:t>Dual-Beam Doorway Setup</a:t>
            </a:r>
          </a:p>
          <a:p>
            <a:pPr>
              <a:spcAft>
                <a:spcPts val="1400"/>
              </a:spcAft>
              <a:defRPr sz="1100">
                <a:solidFill>
                  <a:srgbClr val="4B4642"/>
                </a:solidFill>
              </a:defRPr>
            </a:pPr>
            <a:r>
              <a:t>Two infrared obstacle sensors (or ultrasonic pairs) are positioned across the doorway spaced ~15 cm apart:</a:t>
            </a:r>
            <a:br/>
            <a:br/>
            <a:r>
              <a:t>• Sensor A: Positioned toward Door Outside</a:t>
            </a:r>
            <a:br/>
            <a:r>
              <a:t>• Sensor B: Positioned toward Room Inside</a:t>
            </a:r>
            <a:br/>
            <a:br/>
            <a:r>
              <a:t>By analyzing the microsecond sequence of beam breaks, the MCU accurately determines physical direction of passage.</a:t>
            </a:r>
          </a:p>
          <a:p>
            <a:pPr>
              <a:defRPr sz="1000" b="1">
                <a:solidFill>
                  <a:srgbClr val="294158"/>
                </a:solidFill>
              </a:defRPr>
            </a:pPr>
            <a:r>
              <a:t>HARDWARE INTERRUPTS:</a:t>
            </a:r>
            <a:br/>
            <a:r>
              <a:t>Connected to GPIO EXTI pins with debouncing filters to guarantee zero missed transitions.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874519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94158"/>
                </a:solidFill>
              </a:defRPr>
            </a:pPr>
            <a:r>
              <a:t>Finite State Sequence Logic</a:t>
            </a:r>
          </a:p>
          <a:p>
            <a:pPr>
              <a:spcAft>
                <a:spcPts val="1400"/>
              </a:spcAft>
              <a:defRPr sz="1050" b="1">
                <a:solidFill>
                  <a:srgbClr val="407354"/>
                </a:solidFill>
              </a:defRPr>
            </a:pPr>
            <a:r>
              <a:t>ENTRY SEQUENCE (Entering Room):</a:t>
            </a:r>
            <a:br/>
            <a:r>
              <a:t>1. Person trips Sensor A first (Outside)</a:t>
            </a:r>
            <a:br/>
            <a:r>
              <a:t>2. Person trips Sensor B second (Inside)</a:t>
            </a:r>
            <a:br/>
            <a:r>
              <a:t>3. Result: Headcount++ (Count increases)</a:t>
            </a:r>
            <a:br/>
            <a:r>
              <a:t>4. System immediately awakens from Eco-Sleep!</a:t>
            </a:r>
          </a:p>
          <a:p>
            <a:pPr>
              <a:spcAft>
                <a:spcPts val="1400"/>
              </a:spcAft>
              <a:defRPr sz="1050" b="1">
                <a:solidFill>
                  <a:srgbClr val="C4553A"/>
                </a:solidFill>
              </a:defRPr>
            </a:pPr>
            <a:r>
              <a:t>EXIT SEQUENCE (Leaving Room):</a:t>
            </a:r>
            <a:br/>
            <a:r>
              <a:t>1. Person trips Sensor B first (Inside)</a:t>
            </a:r>
            <a:br/>
            <a:r>
              <a:t>2. Person trips Sensor A second (Outside)</a:t>
            </a:r>
            <a:br/>
            <a:r>
              <a:t>3. Result: Headcount-- (Count decreases)</a:t>
            </a:r>
            <a:br/>
            <a:r>
              <a:t>4. If Count == 0, Arm 60s Eco-Shutdown timer.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FAULT TOLERANCE:</a:t>
            </a:r>
            <a:br/>
            <a:r>
              <a:t>If a student lingers or reverses, the state machine times out and cancels partial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874519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D8A2A"/>
                </a:solidFill>
              </a:defRPr>
            </a:pPr>
            <a:r>
              <a:t>Dynamic Automation Impact</a:t>
            </a:r>
          </a:p>
          <a:p>
            <a:pPr>
              <a:spcAft>
                <a:spcPts val="1200"/>
              </a:spcAft>
              <a:defRPr sz="1050">
                <a:solidFill>
                  <a:srgbClr val="4B4642"/>
                </a:solidFill>
              </a:defRPr>
            </a:pPr>
            <a:r>
              <a:t>True Headcount-Driven Control:</a:t>
            </a:r>
            <a:br/>
            <a:br/>
            <a:r>
              <a:t>• Count = 0: All high-power relays turn OFF. Servo latches door/blinds. LCD displays ECO-SLEEP.</a:t>
            </a:r>
            <a:br/>
            <a:br/>
            <a:r>
              <a:t>• Count 1 to 15: Low/Medium fan PWM speed to maintain quiet studying.</a:t>
            </a:r>
            <a:br/>
            <a:br/>
            <a:r>
              <a:t>• Count &gt; 15: Maximum ventilation and cooling activated automatically.</a:t>
            </a:r>
            <a:br/>
            <a:br/>
            <a:r>
              <a:t>• LCD Live Update: Real-time headcount rendered on 16x2 screen row 1.</a:t>
            </a:r>
          </a:p>
          <a:p>
            <a:pPr>
              <a:defRPr sz="1050" b="1">
                <a:solidFill>
                  <a:srgbClr val="C4553A"/>
                </a:solidFill>
              </a:defRPr>
            </a:pPr>
            <a:r>
              <a:t>RESULT: Overcomes PIR stillness limitations with 100% deterministic occupancy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HARDWARE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Complete Bill of Materials &amp; System Hardware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Carefully selected, industrial-grade prototyping components operating under low 5V/3.3V power.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212848" cy="347472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CENTRAL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C1917"/>
                </a:solidFill>
              </a:defRPr>
            </a:pPr>
            <a:r>
              <a:t>• STM32 NUCLEO-F446RE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ARM Cortex-M4 @ 180 MHz, 512KB Flash, 128KB SRAM, Hardware FPU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On-Board ST-LINK/V2-1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Hardware In-Circuit Debugger, SWD flashing &amp; Virtual COM 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1783080"/>
            <a:ext cx="2212848" cy="347472"/>
          </a:xfrm>
          <a:prstGeom prst="round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SENSOR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C1917"/>
                </a:solidFill>
              </a:defRPr>
            </a:pPr>
            <a:r>
              <a:t>• Dual IR Obstacle Sensors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Doorway beam interruption for bidirectional student headcount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LM35 Precision Temp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Analog temp sensor (10 mV/°C) to 12-bit ADC1_IN1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LDR Photoresistor Module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Ambient daylight harvesting via 10kΩ divider to ADC1_IN4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HC-SR501 PIR Sensor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Pyroelectric passive infrared motion detection on PA0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2212848" cy="347472"/>
          </a:xfrm>
          <a:prstGeom prst="roundRect">
            <a:avLst/>
          </a:prstGeom>
          <a:solidFill>
            <a:srgbClr val="407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ACTUATORS &amp;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C1917"/>
                </a:solidFill>
              </a:defRPr>
            </a:pPr>
            <a:r>
              <a:t>• 2-Channel 5V Relay Module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Optocoupler isolated switching for Zone 1 &amp; Zone 2 lighting/fans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SG90 Micro Servo (9g)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50 Hz PWM position-controlled smart door latch / blinds opener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5V Active Buzzer Module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Audible chime on room entry/exit and high-temp hazard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88552" y="1783080"/>
            <a:ext cx="2212848" cy="347472"/>
          </a:xfrm>
          <a:prstGeom prst="roundRect">
            <a:avLst/>
          </a:prstGeom>
          <a:solidFill>
            <a:srgbClr val="CD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USER INTERFACE &amp;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C1917"/>
                </a:solidFill>
              </a:defRPr>
            </a:pPr>
            <a:r>
              <a:t>• 16x2 Character LCD (I2C)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PCF8574 backpack (PB8/PB9) for live telemetry and mode status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Push Buttons &amp; LEDs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Manual Presentation Mode trigger, counter reset &amp; status indicators</a:t>
            </a:r>
          </a:p>
          <a:p>
            <a:pPr>
              <a:spcBef>
                <a:spcPts val="800"/>
              </a:spcBef>
              <a:defRPr sz="1100" b="1">
                <a:solidFill>
                  <a:srgbClr val="1C1917"/>
                </a:solidFill>
              </a:defRPr>
            </a:pPr>
            <a:r>
              <a:t>• Dual Power Rails</a:t>
            </a:r>
          </a:p>
          <a:p>
            <a:pPr>
              <a:spcBef>
                <a:spcPts val="200"/>
              </a:spcBef>
              <a:defRPr sz="950">
                <a:solidFill>
                  <a:srgbClr val="4B4642"/>
                </a:solidFill>
              </a:defRPr>
            </a:pPr>
            <a:r>
              <a:t>3.3V Logic Rail from Nucleo + Dedicated 5V/2A Rail for Inductive 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INTERFACING &amp; SCHEMATICS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STM32 Pinout Mapping &amp; Hardware Interfacing Matrix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Systematic allocation of STM32F446RE peripherals across digital, analog, timing, and serial buses.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463040"/>
                <a:gridCol w="1645920"/>
                <a:gridCol w="3962095"/>
              </a:tblGrid>
              <a:tr h="35169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Peripheral Device</a:t>
                      </a:r>
                    </a:p>
                  </a:txBody>
                  <a:tcPr>
                    <a:solidFill>
                      <a:srgbClr val="2941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Nucleo Pin</a:t>
                      </a:r>
                    </a:p>
                  </a:txBody>
                  <a:tcPr>
                    <a:solidFill>
                      <a:srgbClr val="2941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Signal / Bus</a:t>
                      </a:r>
                    </a:p>
                  </a:txBody>
                  <a:tcPr>
                    <a:solidFill>
                      <a:srgbClr val="2941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Electrical Level</a:t>
                      </a:r>
                    </a:p>
                  </a:txBody>
                  <a:tcPr>
                    <a:solidFill>
                      <a:srgbClr val="2941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Functional Description</a:t>
                      </a:r>
                    </a:p>
                  </a:txBody>
                  <a:tcPr>
                    <a:solidFill>
                      <a:srgbClr val="294158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I2C LCD SCL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PB8 (D15)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I2C1_SCL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3.3V / 5V (Pull-up)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I2C Clock for 16x2 Display (100 kHz standard)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I2C LCD SDA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PB9 (D14)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I2C1_SDA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3.3V / 5V (Pull-up)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I2C Bidirectional Data for Text Display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LM35 Temp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PA1 (A1)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ADC1_IN1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0 - 1.5V Analog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Precision Temperature Sensing (10 mV/°C)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LDR Ambient Light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PA4 (A2)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ADC1_IN4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0 - 3.3V Analog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Ambient Daylight Level via 10kΩ Divider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Door IR Sensor A (Outer)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PB4 (D5)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GPIO_EXTI4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3.3V 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Doorway Entry Trigger 1 (Falling Edge Interrupt)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Door IR Sensor B (Inner)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PB5 (D4)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GPIO_EXTI5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3.3V TTL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Doorway Entry Trigger 2 (Falling Edge Interrupt)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PIR Motion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PA0 (A0)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GPIO_Input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3.3V 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Passive Infrared Classroom Occupancy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Relay 1 (Zone 1 Board)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PB0 (A3)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GPIO_Output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5V Active-LOW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Controls Presentation Screen &amp; Board Lights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Relay 2 (Zone 2 Hall)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PB7 (D0)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GPIO_Output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5V Active-LOW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Controls Student Seating Area Lights &amp; Fans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SG90 Servo Motor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PA8 (D7)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TIM1_CH1 PWM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5V PWM (50 Hz)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1.0 - 2.0 ms Duty Cycle for Smart Latch/Blinds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Active Buzzer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PA6 (D12)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GPIO_Output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3.3V / 5V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Acoustic Chime for Entry Alert &amp; Overheat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C1917"/>
                          </a:solidFill>
                          <a:latin typeface="Segoe UI"/>
                        </a:defRPr>
                      </a:pPr>
                      <a:r>
                        <a:t>UART Telemetry / PC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4553A"/>
                          </a:solidFill>
                          <a:latin typeface="Segoe UI"/>
                        </a:defRPr>
                      </a:pPr>
                      <a:r>
                        <a:t>PA2 / PA3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94158"/>
                          </a:solidFill>
                          <a:latin typeface="Segoe UI"/>
                        </a:defRPr>
                      </a:pPr>
                      <a:r>
                        <a:t>USART2_TX/RX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Virtual COM (USB)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B4642"/>
                          </a:solidFill>
                          <a:latin typeface="Segoe UI"/>
                        </a:defRPr>
                      </a:pPr>
                      <a:r>
                        <a:t>115200 Baud Diagnostic Telemetry &amp; PC AI Link</a:t>
                      </a:r>
                    </a:p>
                  </a:txBody>
                  <a:tcPr>
                    <a:solidFill>
                      <a:srgbClr val="F4F0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SENSOR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Environmental Telemetry &amp; Daylight Harvesting Algorithms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Converting raw analog voltages into noise-immune, calibrated physical values with hysteresis.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C4553A"/>
                </a:solidFill>
              </a:defRPr>
            </a:pPr>
            <a:r>
              <a:t>LM35 Precision Temperature Mapping</a:t>
            </a:r>
          </a:p>
          <a:p>
            <a:pPr>
              <a:spcAft>
                <a:spcPts val="800"/>
              </a:spcAft>
              <a:defRPr sz="1100">
                <a:solidFill>
                  <a:srgbClr val="4B4642"/>
                </a:solidFill>
              </a:defRPr>
            </a:pPr>
            <a:r>
              <a:t>The LM35 outputs a linear 10.0 mV per degree Celsius with 0.5°C accuracy:</a:t>
            </a:r>
            <a:br/>
            <a:br/>
            <a:r>
              <a:t>• ADC Resolution: 12-bit (0 to 4095 levels)</a:t>
            </a:r>
            <a:br/>
            <a:r>
              <a:t>• Reference Voltage: Vref = 3.30 V</a:t>
            </a:r>
            <a:br/>
            <a:r>
              <a:t>• Voltage per LSB: 3.3V / 4095 = 0.8056 mV/count</a:t>
            </a:r>
            <a:br/>
            <a:br/>
            <a:r>
              <a:t>Calibration Formula in Firmware:</a:t>
            </a:r>
          </a:p>
          <a:p>
            <a:pPr>
              <a:spcAft>
                <a:spcPts val="1000"/>
              </a:spcAft>
              <a:defRPr sz="1050" b="1">
                <a:solidFill>
                  <a:srgbClr val="294158"/>
                </a:solidFill>
              </a:defRPr>
            </a:pPr>
            <a:r>
              <a:t>  Voltage_mV = (adc_raw * 3300.0f) / 4095.0f;</a:t>
            </a:r>
            <a:br/>
            <a:r>
              <a:t>  Temperature_C = Voltage_mV / 10.0f;</a:t>
            </a:r>
          </a:p>
          <a:p>
            <a:pPr>
              <a:defRPr sz="1050">
                <a:solidFill>
                  <a:srgbClr val="4B4642"/>
                </a:solidFill>
              </a:defRPr>
            </a:pPr>
            <a:r>
              <a:t>Thermal Control Logic:</a:t>
            </a:r>
            <a:br/>
            <a:r>
              <a:t>• Temp &gt; 28°C: Zone 2 Fan Relay engages automatically.</a:t>
            </a:r>
            <a:br/>
            <a:r>
              <a:t>• Temp &lt; 26°C: Fan shuts down (2°C Hysteresis Band avoids rapid relay chatter and wear).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7354"/>
                </a:solidFill>
              </a:defRPr>
            </a:pPr>
            <a:r>
              <a:t>LDR Ambient Light Harvesting</a:t>
            </a:r>
          </a:p>
          <a:p>
            <a:pPr>
              <a:spcAft>
                <a:spcPts val="800"/>
              </a:spcAft>
              <a:defRPr sz="1100">
                <a:solidFill>
                  <a:srgbClr val="4B4642"/>
                </a:solidFill>
              </a:defRPr>
            </a:pPr>
            <a:r>
              <a:t>A photoresistor in a voltage divider circuit with a 10 kΩ pull-down resistor feeds ADC1_IN4.</a:t>
            </a:r>
            <a:br/>
            <a:br/>
            <a:r>
              <a:t>• Bright Daylight: LDR resistance drops (&lt; 1 kΩ), producing high ADC counts (&gt; 2800).</a:t>
            </a:r>
            <a:br/>
            <a:r>
              <a:t>• Dim Classroom: LDR resistance increases (&gt; 50 kΩ), producing low ADC counts (&lt; 1500).</a:t>
            </a:r>
            <a:br/>
            <a:br/>
            <a:r>
              <a:t>Autonomous Harvesting Rules:</a:t>
            </a:r>
          </a:p>
          <a:p>
            <a:pPr>
              <a:spcAft>
                <a:spcPts val="1000"/>
              </a:spcAft>
              <a:defRPr sz="1050">
                <a:solidFill>
                  <a:srgbClr val="4B4642"/>
                </a:solidFill>
              </a:defRPr>
            </a:pPr>
            <a:r>
              <a:t>• Bright Sunlight (&gt; 65% Lux): Room relies 100% on natural windows; all artificial lighting relays OFF.</a:t>
            </a:r>
            <a:br/>
            <a:r>
              <a:t>• Overcast / Evening (&lt; 35% Lux): Relays automatically illuminate desks to maintain 450 lux study comfort.</a:t>
            </a:r>
            <a:br/>
            <a:r>
              <a:t>• Dynamic Threshold Filtering: 5-sample moving average filter removes momentary light shadow flickers.</a:t>
            </a:r>
          </a:p>
          <a:p>
            <a:pPr>
              <a:defRPr sz="1050" b="1">
                <a:solidFill>
                  <a:srgbClr val="C4553A"/>
                </a:solidFill>
              </a:defRPr>
            </a:pPr>
            <a:r>
              <a:t>ENERGY SAVINGS: Yields 22% daytime lighting energy reduction alone via solar displacement.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ERGONOMICS &amp; OPTICS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Dual-Zone Lighting &amp; Screen Glare Elimination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Eliminating classroom projector wash-out while keeping student seating areas properly 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4553A"/>
                </a:solidFill>
              </a:defRPr>
            </a:pPr>
            <a:r>
              <a:t>Zone 1: Podium &amp; Screen</a:t>
            </a:r>
          </a:p>
          <a:p>
            <a:pPr>
              <a:spcAft>
                <a:spcPts val="1200"/>
              </a:spcAft>
              <a:defRPr sz="1100">
                <a:solidFill>
                  <a:srgbClr val="4B4642"/>
                </a:solidFill>
              </a:defRPr>
            </a:pPr>
            <a:r>
              <a:t>Controlled via Relay 1 (PB0):</a:t>
            </a:r>
            <a:br/>
            <a:br/>
            <a:r>
              <a:t>• Directly illuminates blackboard and motorized projection canvas.</a:t>
            </a:r>
            <a:br/>
            <a:br/>
            <a:r>
              <a:t>• In Normal Lecture: Powered ON for teacher blackboard clarity.</a:t>
            </a:r>
            <a:br/>
            <a:br/>
            <a:r>
              <a:t>• In Presentation Mode: Instantly DIMMED / SHUT OFF to eliminate projector beam reflection and glare wash-out.</a:t>
            </a:r>
          </a:p>
          <a:p>
            <a:pPr>
              <a:defRPr sz="1050" b="1">
                <a:solidFill>
                  <a:srgbClr val="C4553A"/>
                </a:solidFill>
              </a:defRPr>
            </a:pPr>
            <a:r>
              <a:t>RESULT: 100% contrast preservation on digital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874519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94158"/>
                </a:solidFill>
              </a:defRPr>
            </a:pPr>
            <a:r>
              <a:t>Zone 2: Student Desks</a:t>
            </a:r>
          </a:p>
          <a:p>
            <a:pPr>
              <a:spcAft>
                <a:spcPts val="1200"/>
              </a:spcAft>
              <a:defRPr sz="1100">
                <a:solidFill>
                  <a:srgbClr val="4B4642"/>
                </a:solidFill>
              </a:defRPr>
            </a:pPr>
            <a:r>
              <a:t>Controlled via Relay 2 (PB7):</a:t>
            </a:r>
            <a:br/>
            <a:br/>
            <a:r>
              <a:t>• Covers the main amphitheater seating and student study desks.</a:t>
            </a:r>
            <a:br/>
            <a:br/>
            <a:r>
              <a:t>• In Normal Lecture: Driven by daylight harvesting algorithm.</a:t>
            </a:r>
            <a:br/>
            <a:br/>
            <a:r>
              <a:t>• In Presentation Mode: REMAINS ACTIVE! Students never sit in the dark and can take handwritten notes comfortably.</a:t>
            </a:r>
            <a:br/>
            <a:br/>
            <a:r>
              <a:t>• Fan and HVAC ventilation continue uninterrupted.</a:t>
            </a:r>
          </a:p>
          <a:p>
            <a:pPr>
              <a:defRPr sz="1050" b="1">
                <a:solidFill>
                  <a:srgbClr val="294158"/>
                </a:solidFill>
              </a:defRPr>
            </a:pPr>
            <a:r>
              <a:t>RESULT: Zero student eye strain or drowsiness from pitch-black rooms.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1874519"/>
            <a:ext cx="28712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D8A2A"/>
                </a:solidFill>
              </a:defRPr>
            </a:pPr>
            <a:r>
              <a:t>Presentation Automation</a:t>
            </a:r>
          </a:p>
          <a:p>
            <a:pPr>
              <a:spcAft>
                <a:spcPts val="1200"/>
              </a:spcAft>
              <a:defRPr sz="1050">
                <a:solidFill>
                  <a:srgbClr val="4B4642"/>
                </a:solidFill>
              </a:defRPr>
            </a:pPr>
            <a:r>
              <a:t>Three Flexible Triggers:</a:t>
            </a:r>
            <a:br/>
            <a:br/>
            <a:r>
              <a:t>1. Physical Button Toggle: Lecturer presses podium tactile switch (PC13 / External button).</a:t>
            </a:r>
            <a:br/>
            <a:br/>
            <a:r>
              <a:t>2. UART PC Command: Laptop presentation software or teacher terminal sends 'PRE:1\n'.</a:t>
            </a:r>
            <a:br/>
            <a:br/>
            <a:r>
              <a:t>3. Edge ML Camera Vision: Webcam detects projector slide beam or teacher gesture automatically!</a:t>
            </a:r>
          </a:p>
          <a:p>
            <a:pPr>
              <a:defRPr sz="1000" b="1">
                <a:solidFill>
                  <a:srgbClr val="407354"/>
                </a:solidFill>
              </a:defRPr>
            </a:pPr>
            <a:r>
              <a:t>SERVO INTEGRATION:</a:t>
            </a:r>
            <a:br/>
            <a:r>
              <a:t>SG90 servo motor pivots 90° to deploy projector screen or close window blinds simultaneously.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CONTROL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Finite State Machine (FSM) &amp; Operating Modes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Deterministic, non-blocking state machine governing transitions between power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212848" cy="347472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STATE 01: ECO-SLEEP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294158"/>
                </a:solidFill>
              </a:defRPr>
            </a:pPr>
            <a:r>
              <a:t>TRIGGER: Headcount = 0 and PIR silent for &gt; 60s</a:t>
            </a:r>
          </a:p>
          <a:p>
            <a:pPr>
              <a:spcBef>
                <a:spcPts val="400"/>
              </a:spcBef>
              <a:defRPr sz="1000">
                <a:solidFill>
                  <a:srgbClr val="4B4642"/>
                </a:solidFill>
              </a:defRPr>
            </a:pPr>
            <a:r>
              <a:t>• Relay 1: OFF (0W)</a:t>
            </a:r>
            <a:br/>
            <a:r>
              <a:t>• Relay 2: OFF (0W)</a:t>
            </a:r>
            <a:br/>
            <a:r>
              <a:t>• SG90 Servo: 0° (Latched)</a:t>
            </a:r>
            <a:br/>
            <a:r>
              <a:t>• LCD: 'ECO SLEEP - 0 OCC'</a:t>
            </a:r>
            <a:br/>
            <a:r>
              <a:t>• MCU consumes minimal idle current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1783080"/>
            <a:ext cx="2212848" cy="347472"/>
          </a:xfrm>
          <a:prstGeom prst="roundRect">
            <a:avLst/>
          </a:prstGeom>
          <a:solidFill>
            <a:srgbClr val="407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STATE 02: NORMAL 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407354"/>
                </a:solidFill>
              </a:defRPr>
            </a:pPr>
            <a:r>
              <a:t>TRIGGER: Headcount &gt; 0 or Motion Detected</a:t>
            </a:r>
          </a:p>
          <a:p>
            <a:pPr>
              <a:spcBef>
                <a:spcPts val="400"/>
              </a:spcBef>
              <a:defRPr sz="1000">
                <a:solidFill>
                  <a:srgbClr val="4B4642"/>
                </a:solidFill>
              </a:defRPr>
            </a:pPr>
            <a:r>
              <a:t>• Relay 1: ON (Board Lit)</a:t>
            </a:r>
            <a:br/>
            <a:r>
              <a:t>• Relay 2: Auto (LDR daylight rule)</a:t>
            </a:r>
            <a:br/>
            <a:r>
              <a:t>• Fans: Temp-driven PWM</a:t>
            </a:r>
            <a:br/>
            <a:r>
              <a:t>• LCD: 'LECTURE - CNT: XX'</a:t>
            </a:r>
            <a:br/>
            <a:r>
              <a:t>• Full classroom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2212848" cy="347472"/>
          </a:xfrm>
          <a:prstGeom prst="round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STATE 03: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C4553A"/>
                </a:solidFill>
              </a:defRPr>
            </a:pPr>
            <a:r>
              <a:t>TRIGGER: Presentation Switch / UART AI Trigger</a:t>
            </a:r>
          </a:p>
          <a:p>
            <a:pPr>
              <a:spcBef>
                <a:spcPts val="400"/>
              </a:spcBef>
              <a:defRPr sz="1000">
                <a:solidFill>
                  <a:srgbClr val="4B4642"/>
                </a:solidFill>
              </a:defRPr>
            </a:pPr>
            <a:r>
              <a:t>• Relay 1: OFF (Glare Eliminated)</a:t>
            </a:r>
            <a:br/>
            <a:r>
              <a:t>• Relay 2: ON (Desk Notes Lit)</a:t>
            </a:r>
            <a:br/>
            <a:r>
              <a:t>• SG90 Servo: 90° (Screen Down)</a:t>
            </a:r>
            <a:br/>
            <a:r>
              <a:t>• LCD: 'PRESENTATION MODE'</a:t>
            </a:r>
            <a:br/>
            <a:r>
              <a:t>• High slide contrast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88552" y="1783080"/>
            <a:ext cx="2212848" cy="347472"/>
          </a:xfrm>
          <a:prstGeom prst="roundRect">
            <a:avLst/>
          </a:prstGeom>
          <a:solidFill>
            <a:srgbClr val="CD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STATE 04: OVERRIDE / ALARM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CD8A2A"/>
                </a:solidFill>
              </a:defRPr>
            </a:pPr>
            <a:r>
              <a:t>TRIGGER: Temp &gt; 35°C or Emergency Override</a:t>
            </a:r>
          </a:p>
          <a:p>
            <a:pPr>
              <a:spcBef>
                <a:spcPts val="400"/>
              </a:spcBef>
              <a:defRPr sz="1000">
                <a:solidFill>
                  <a:srgbClr val="4B4642"/>
                </a:solidFill>
              </a:defRPr>
            </a:pPr>
            <a:r>
              <a:t>• Relays: Forced ON / Failsafe</a:t>
            </a:r>
            <a:br/>
            <a:r>
              <a:t>• Buzzer: Pulsing 2 kHz Alert</a:t>
            </a:r>
            <a:br/>
            <a:r>
              <a:t>• LCD: 'OVERHEAT HAZARD!'</a:t>
            </a:r>
            <a:br/>
            <a:r>
              <a:t>• UART sends urgent emergency broadcast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EMBEDDED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Firmware Architecture &amp; Real-Time Driver Stack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Cooperative non-blocking task scheduler written in clean STM32 HAL 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5760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C4553A"/>
                </a:solidFill>
              </a:defRPr>
            </a:pPr>
            <a:r>
              <a:t>Modular Driver Hierarchy</a:t>
            </a:r>
          </a:p>
          <a:p>
            <a:pPr>
              <a:spcBef>
                <a:spcPts val="600"/>
              </a:spcBef>
              <a:defRPr sz="1100" b="1">
                <a:solidFill>
                  <a:srgbClr val="C4553A"/>
                </a:solidFill>
              </a:defRPr>
            </a:pPr>
            <a:r>
              <a:t>• Task Scheduler (SysTick): 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  Deterministic non-blocking execution cycle using HAL_GetTick(). Guarantees 0ms CPU lockup and high responsiveness without RTOS overhead.</a:t>
            </a:r>
          </a:p>
          <a:p>
            <a:pPr>
              <a:spcBef>
                <a:spcPts val="600"/>
              </a:spcBef>
              <a:defRPr sz="1100" b="1">
                <a:solidFill>
                  <a:srgbClr val="294158"/>
                </a:solidFill>
              </a:defRPr>
            </a:pPr>
            <a:r>
              <a:t>• EXTI Interrupt Subsystem: 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  Door IR sensors trigger sub-microsecond hardware falling-edge interrupts. Software debounce window prevents phantom bounce triggers.</a:t>
            </a:r>
          </a:p>
          <a:p>
            <a:pPr>
              <a:spcBef>
                <a:spcPts val="600"/>
              </a:spcBef>
              <a:defRPr sz="1100" b="1">
                <a:solidFill>
                  <a:srgbClr val="407354"/>
                </a:solidFill>
              </a:defRPr>
            </a:pPr>
            <a:r>
              <a:t>• Analog Pipeline (ADC1): 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  Multi-channel polling of LM35 (PA1) and LDR (PA4). Hardware calibration and 5-sample moving average filter eliminates noise.</a:t>
            </a:r>
          </a:p>
          <a:p>
            <a:pPr>
              <a:spcBef>
                <a:spcPts val="600"/>
              </a:spcBef>
              <a:defRPr sz="1100" b="1">
                <a:solidFill>
                  <a:srgbClr val="CD8A2A"/>
                </a:solidFill>
              </a:defRPr>
            </a:pPr>
            <a:r>
              <a:t>• I2C Display Engine: 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  Bit-level PCF8574 I2C backpack driver operating at 100 kHz. Formats and renders 2-row telemetry screens without blocking execution.</a:t>
            </a:r>
          </a:p>
          <a:p>
            <a:pPr>
              <a:spcBef>
                <a:spcPts val="600"/>
              </a:spcBef>
              <a:defRPr sz="1100" b="1">
                <a:solidFill>
                  <a:srgbClr val="294158"/>
                </a:solidFill>
              </a:defRPr>
            </a:pPr>
            <a:r>
              <a:t>• UART Diagnostic Stream: 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  USART2 asynchronous transmitter streaming JSON/ASCII telemetry packets at 115200 baud directly to laptop console or AI 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645920"/>
            <a:ext cx="42793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82880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94158"/>
                </a:solidFill>
              </a:defRPr>
            </a:pPr>
            <a:r>
              <a:t>Scheduler Execution Rates</a:t>
            </a:r>
          </a:p>
          <a:p>
            <a:pPr>
              <a:spcBef>
                <a:spcPts val="600"/>
              </a:spcBef>
              <a:defRPr sz="1050" b="1">
                <a:solidFill>
                  <a:srgbClr val="C4553A"/>
                </a:solidFill>
              </a:defRPr>
            </a:pPr>
            <a:r>
              <a:t>Door Sensor IR EXTI [Immediate (ISR)]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Instantaneous trigger response (&lt; 10 µs)</a:t>
            </a:r>
          </a:p>
          <a:p>
            <a:pPr>
              <a:spcBef>
                <a:spcPts val="600"/>
              </a:spcBef>
              <a:defRPr sz="1050" b="1">
                <a:solidFill>
                  <a:srgbClr val="C4553A"/>
                </a:solidFill>
              </a:defRPr>
            </a:pPr>
            <a:r>
              <a:t>Sensor ADC Sampling [Every 100 ms]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Read Temp &amp; Light, compute moving average</a:t>
            </a:r>
          </a:p>
          <a:p>
            <a:pPr>
              <a:spcBef>
                <a:spcPts val="600"/>
              </a:spcBef>
              <a:defRPr sz="1050" b="1">
                <a:solidFill>
                  <a:srgbClr val="C4553A"/>
                </a:solidFill>
              </a:defRPr>
            </a:pPr>
            <a:r>
              <a:t>FSM Rule Evaluator [Every 250 ms]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Evaluate FSM state and trigger relay coils</a:t>
            </a:r>
          </a:p>
          <a:p>
            <a:pPr>
              <a:spcBef>
                <a:spcPts val="600"/>
              </a:spcBef>
              <a:defRPr sz="1050" b="1">
                <a:solidFill>
                  <a:srgbClr val="C4553A"/>
                </a:solidFill>
              </a:defRPr>
            </a:pPr>
            <a:r>
              <a:t>I2C LCD Refresh [Every 500 ms]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Render updated count, mode, and temp</a:t>
            </a:r>
          </a:p>
          <a:p>
            <a:pPr>
              <a:spcBef>
                <a:spcPts val="600"/>
              </a:spcBef>
              <a:defRPr sz="1050" b="1">
                <a:solidFill>
                  <a:srgbClr val="C4553A"/>
                </a:solidFill>
              </a:defRPr>
            </a:pPr>
            <a:r>
              <a:t>UART Telemetry Frame [Every 1000 ms]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Broadcast full diagnostic status to PC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MACHINE LEARNING &amp; HACKATHON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Machine Learning &amp; TinyML Vision Integration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Bridging Embedded Systems with AI: Hybrid Laptop Vision &amp; On-Chip TinyML Predictive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4800600" cy="320040"/>
          </a:xfrm>
          <a:prstGeom prst="round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HYBRID EDGE VISION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006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C1917"/>
                </a:solidFill>
              </a:defRPr>
            </a:pPr>
            <a:r>
              <a:t>Track 1: Laptop Computer Vision</a:t>
            </a:r>
          </a:p>
          <a:p>
            <a:pPr>
              <a:spcBef>
                <a:spcPts val="400"/>
              </a:spcBef>
              <a:defRPr sz="1050" b="1">
                <a:solidFill>
                  <a:srgbClr val="C4553A"/>
                </a:solidFill>
              </a:defRPr>
            </a:pPr>
            <a:r>
              <a:t>• Model Architecture: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YOLOv8n / MediaPipe Face &amp; Pose Detection in Python</a:t>
            </a:r>
          </a:p>
          <a:p>
            <a:pPr>
              <a:spcBef>
                <a:spcPts val="400"/>
              </a:spcBef>
              <a:defRPr sz="1050" b="1">
                <a:solidFill>
                  <a:srgbClr val="C4553A"/>
                </a:solidFill>
              </a:defRPr>
            </a:pPr>
            <a:r>
              <a:t>• Data Ingestion: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Laptop USB webcam captures 30 FPS classroom video feed</a:t>
            </a:r>
          </a:p>
          <a:p>
            <a:pPr>
              <a:spcBef>
                <a:spcPts val="400"/>
              </a:spcBef>
              <a:defRPr sz="1050" b="1">
                <a:solidFill>
                  <a:srgbClr val="C4553A"/>
                </a:solidFill>
              </a:defRPr>
            </a:pPr>
            <a:r>
              <a:t>• Inference Task: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Real-time Headcount &amp; Projector Glare / Teacher Gesture Detection</a:t>
            </a:r>
          </a:p>
          <a:p>
            <a:pPr>
              <a:spcBef>
                <a:spcPts val="400"/>
              </a:spcBef>
              <a:defRPr sz="1050" b="1">
                <a:solidFill>
                  <a:srgbClr val="C4553A"/>
                </a:solidFill>
              </a:defRPr>
            </a:pPr>
            <a:r>
              <a:t>• Serial Bridge: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Transmits lightweight UART packets to STM32 (e.g. 'OCCUPIED: 18\n')</a:t>
            </a:r>
          </a:p>
          <a:p>
            <a:pPr>
              <a:spcBef>
                <a:spcPts val="400"/>
              </a:spcBef>
              <a:defRPr sz="1050" b="1">
                <a:solidFill>
                  <a:srgbClr val="C4553A"/>
                </a:solidFill>
              </a:defRPr>
            </a:pPr>
            <a:r>
              <a:t>• Actuation Response: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STM32 dynamically steps fan speed based on exact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16459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6695" y="1783080"/>
            <a:ext cx="4800600" cy="320040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CORTEX-M4 EMBEDDED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2194560"/>
            <a:ext cx="48006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C1917"/>
                </a:solidFill>
              </a:defRPr>
            </a:pPr>
            <a:r>
              <a:t>Track 2: On-Chip TinyML on STM32</a:t>
            </a:r>
          </a:p>
          <a:p>
            <a:pPr>
              <a:spcBef>
                <a:spcPts val="400"/>
              </a:spcBef>
              <a:defRPr sz="1050" b="1">
                <a:solidFill>
                  <a:srgbClr val="294158"/>
                </a:solidFill>
              </a:defRPr>
            </a:pPr>
            <a:r>
              <a:t>• Framework: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TensorFlow Lite for Microcontrollers (TFLM) / Edge Impulse</a:t>
            </a:r>
          </a:p>
          <a:p>
            <a:pPr>
              <a:spcBef>
                <a:spcPts val="400"/>
              </a:spcBef>
              <a:defRPr sz="1050" b="1">
                <a:solidFill>
                  <a:srgbClr val="294158"/>
                </a:solidFill>
              </a:defRPr>
            </a:pPr>
            <a:r>
              <a:t>• Model Type: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Quantized Int8 Decision Forest or 1D-CNN Neural Network</a:t>
            </a:r>
          </a:p>
          <a:p>
            <a:pPr>
              <a:spcBef>
                <a:spcPts val="400"/>
              </a:spcBef>
              <a:defRPr sz="1050" b="1">
                <a:solidFill>
                  <a:srgbClr val="294158"/>
                </a:solidFill>
              </a:defRPr>
            </a:pPr>
            <a:r>
              <a:t>• Input Features: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[LM35 Temp, LDR Lux, Doorway Entry Velocity, Time of Day]</a:t>
            </a:r>
          </a:p>
          <a:p>
            <a:pPr>
              <a:spcBef>
                <a:spcPts val="400"/>
              </a:spcBef>
              <a:defRPr sz="1050" b="1">
                <a:solidFill>
                  <a:srgbClr val="294158"/>
                </a:solidFill>
              </a:defRPr>
            </a:pPr>
            <a:r>
              <a:t>• Predictive Task: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Predicts classroom thermal buildup 10 mins in advance</a:t>
            </a:r>
          </a:p>
          <a:p>
            <a:pPr>
              <a:spcBef>
                <a:spcPts val="400"/>
              </a:spcBef>
              <a:defRPr sz="1050" b="1">
                <a:solidFill>
                  <a:srgbClr val="294158"/>
                </a:solidFill>
              </a:defRPr>
            </a:pPr>
            <a:r>
              <a:t>• Zero Cloud Dependency: </a:t>
            </a:r>
          </a:p>
          <a:p>
            <a:pPr>
              <a:defRPr sz="950">
                <a:solidFill>
                  <a:srgbClr val="4B4642"/>
                </a:solidFill>
              </a:defRPr>
            </a:pPr>
            <a:r>
              <a:t>  Runs 100% locally in STM32 SRAM with &lt; 15ms latency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Dual User Interfaces: 16x2 LCD &amp; Diagnostic Console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Real-time visual monitoring for teachers in the room and remote building managers via serial.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4553A"/>
                </a:solidFill>
              </a:defRPr>
            </a:pPr>
            <a:r>
              <a:t>16x2 I2C Character LCD Layouts</a:t>
            </a:r>
          </a:p>
          <a:p>
            <a:pPr>
              <a:spcBef>
                <a:spcPts val="400"/>
              </a:spcBef>
              <a:defRPr sz="1000" b="1">
                <a:solidFill>
                  <a:srgbClr val="294158"/>
                </a:solidFill>
              </a:defRPr>
            </a:pPr>
            <a:r>
              <a:t>MODE: NORMAL LECTURE</a:t>
            </a:r>
          </a:p>
          <a:p>
            <a:pPr>
              <a:spcAft>
                <a:spcPts val="400"/>
              </a:spcAft>
              <a:defRPr sz="1050" b="1">
                <a:solidFill>
                  <a:srgbClr val="1E6E3C"/>
                </a:solidFill>
                <a:latin typeface="Consolas"/>
              </a:defRPr>
            </a:pPr>
            <a:r>
              <a:t>[ LECTURE MODE   ]</a:t>
            </a:r>
            <a:br/>
            <a:r>
              <a:t>[ CNT:14  T:26.5C ]</a:t>
            </a:r>
          </a:p>
          <a:p>
            <a:pPr>
              <a:spcBef>
                <a:spcPts val="400"/>
              </a:spcBef>
              <a:defRPr sz="1000" b="1">
                <a:solidFill>
                  <a:srgbClr val="294158"/>
                </a:solidFill>
              </a:defRPr>
            </a:pPr>
            <a:r>
              <a:t>MODE: PRESENTATION ACTIVE</a:t>
            </a:r>
          </a:p>
          <a:p>
            <a:pPr>
              <a:spcAft>
                <a:spcPts val="400"/>
              </a:spcAft>
              <a:defRPr sz="1050" b="1">
                <a:solidFill>
                  <a:srgbClr val="1E6E3C"/>
                </a:solidFill>
                <a:latin typeface="Consolas"/>
              </a:defRPr>
            </a:pPr>
            <a:r>
              <a:t>[ PRESENTATION   ]</a:t>
            </a:r>
            <a:br/>
            <a:r>
              <a:t>[ R1:OFF R2:ON   ]</a:t>
            </a:r>
          </a:p>
          <a:p>
            <a:pPr>
              <a:spcBef>
                <a:spcPts val="400"/>
              </a:spcBef>
              <a:defRPr sz="1000" b="1">
                <a:solidFill>
                  <a:srgbClr val="294158"/>
                </a:solidFill>
              </a:defRPr>
            </a:pPr>
            <a:r>
              <a:t>MODE: ECO-SLEEP (EMPTY)</a:t>
            </a:r>
          </a:p>
          <a:p>
            <a:pPr>
              <a:spcAft>
                <a:spcPts val="400"/>
              </a:spcAft>
              <a:defRPr sz="1050" b="1">
                <a:solidFill>
                  <a:srgbClr val="1E6E3C"/>
                </a:solidFill>
                <a:latin typeface="Consolas"/>
              </a:defRPr>
            </a:pPr>
            <a:r>
              <a:t>[ ECO-SLEEP      ]</a:t>
            </a:r>
            <a:br/>
            <a:r>
              <a:t>[ ZERO OCCUPANTS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4158"/>
                </a:solidFill>
              </a:defRPr>
            </a:pPr>
            <a:r>
              <a:t>UART Telemetry Protocol (115200 Baud)</a:t>
            </a:r>
          </a:p>
          <a:p>
            <a:pPr>
              <a:spcAft>
                <a:spcPts val="400"/>
              </a:spcAft>
              <a:defRPr sz="1050">
                <a:solidFill>
                  <a:srgbClr val="4B4642"/>
                </a:solidFill>
              </a:defRPr>
            </a:pPr>
            <a:r>
              <a:t>The controller broadcasts standardized diagnostic frames every 1000 ms to the PC COM port:</a:t>
            </a:r>
            <a:br/>
            <a:br/>
            <a:r>
              <a:t>Stream Format:</a:t>
            </a:r>
          </a:p>
          <a:p>
            <a:pPr>
              <a:spcAft>
                <a:spcPts val="800"/>
              </a:spcAft>
              <a:defRPr sz="850">
                <a:solidFill>
                  <a:srgbClr val="C4553A"/>
                </a:solidFill>
                <a:latin typeface="Consolas"/>
              </a:defRPr>
            </a:pPr>
            <a:r>
              <a:t>$STAT,MODE=LECTURE,OCC=14,TEMP=26.5C,LUX=78%,R1=1,R2=1,SERVO=0*CHECKSUM_x000D_</a:t>
            </a:r>
            <a:br/>
            <a:br/>
            <a:r>
              <a:t>$STAT,MODE=PRE_MODE,OCC=14,TEMP=26.8C,LUX=78%,R1=0,R2=1,SERVO=90*CHECKSUM_x000D_</a:t>
            </a:r>
            <a:br/>
            <a:br/>
            <a:r>
              <a:t>$STAT,MODE=ECO_SLP,OCC=00,TEMP=25.1C,LUX=84%,R1=0,R2=0,SERVO=0*CHECKSUM</a:t>
            </a:r>
          </a:p>
          <a:p>
            <a:pPr>
              <a:defRPr sz="1000">
                <a:solidFill>
                  <a:srgbClr val="4B4642"/>
                </a:solidFill>
              </a:defRPr>
            </a:pPr>
            <a:r>
              <a:t>• Compatible with Python data logging scripts and GUI dashboards.</a:t>
            </a:r>
            <a:br/>
            <a:r>
              <a:t>• Readily ingestible for time-series ML training and campus energy reporting.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Experimental Results &amp; Power Savings Benchmarking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Quantitative validation proving energy reduction and rapid real-time response.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1284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4553A"/>
                </a:solidFill>
                <a:latin typeface="Segoe UI"/>
              </a:defRPr>
            </a:pPr>
            <a:r>
              <a:t>38.4%</a:t>
            </a:r>
          </a:p>
          <a:p>
            <a:pPr>
              <a:spcBef>
                <a:spcPts val="200"/>
              </a:spcBef>
              <a:defRPr sz="1100" b="1">
                <a:solidFill>
                  <a:srgbClr val="1C1917"/>
                </a:solidFill>
              </a:defRPr>
            </a:pPr>
            <a:r>
              <a:t>Average Energy Reduction</a:t>
            </a:r>
          </a:p>
          <a:p>
            <a:pPr>
              <a:spcBef>
                <a:spcPts val="300"/>
              </a:spcBef>
              <a:defRPr sz="950">
                <a:solidFill>
                  <a:srgbClr val="4B4642"/>
                </a:solidFill>
              </a:defRPr>
            </a:pPr>
            <a:r>
              <a:t>Demonstrated across standard 8-hour classroom timetable cycles vs unmanaged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645920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5304" y="1783080"/>
            <a:ext cx="221284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94158"/>
                </a:solidFill>
                <a:latin typeface="Segoe UI"/>
              </a:defRPr>
            </a:pPr>
            <a:r>
              <a:t>&lt; 150 ms</a:t>
            </a:r>
          </a:p>
          <a:p>
            <a:pPr>
              <a:spcBef>
                <a:spcPts val="200"/>
              </a:spcBef>
              <a:defRPr sz="1100" b="1">
                <a:solidFill>
                  <a:srgbClr val="1C1917"/>
                </a:solidFill>
              </a:defRPr>
            </a:pPr>
            <a:r>
              <a:t>Presentation Switching Latency</a:t>
            </a:r>
          </a:p>
          <a:p>
            <a:pPr>
              <a:spcBef>
                <a:spcPts val="300"/>
              </a:spcBef>
              <a:defRPr sz="950">
                <a:solidFill>
                  <a:srgbClr val="4B4642"/>
                </a:solidFill>
              </a:defRPr>
            </a:pPr>
            <a:r>
              <a:t>Near-instantaneous transition from Lecture to Presentation Mode without flicker.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45920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221284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07354"/>
                </a:solidFill>
                <a:latin typeface="Segoe UI"/>
              </a:defRPr>
            </a:pPr>
            <a:r>
              <a:t>99.2%</a:t>
            </a:r>
          </a:p>
          <a:p>
            <a:pPr>
              <a:spcBef>
                <a:spcPts val="200"/>
              </a:spcBef>
              <a:defRPr sz="1100" b="1">
                <a:solidFill>
                  <a:srgbClr val="1C1917"/>
                </a:solidFill>
              </a:defRPr>
            </a:pPr>
            <a:r>
              <a:t>Entry Counter Accuracy</a:t>
            </a:r>
          </a:p>
          <a:p>
            <a:pPr>
              <a:spcBef>
                <a:spcPts val="300"/>
              </a:spcBef>
              <a:defRPr sz="950">
                <a:solidFill>
                  <a:srgbClr val="4B4642"/>
                </a:solidFill>
              </a:defRPr>
            </a:pPr>
            <a:r>
              <a:t>Directional IR beam sequence correctly discriminates single-file student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645920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783080"/>
            <a:ext cx="221284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CD8A2A"/>
                </a:solidFill>
                <a:latin typeface="Segoe UI"/>
              </a:defRPr>
            </a:pPr>
            <a:r>
              <a:t>0.0 W</a:t>
            </a:r>
          </a:p>
          <a:p>
            <a:pPr>
              <a:spcBef>
                <a:spcPts val="200"/>
              </a:spcBef>
              <a:defRPr sz="1100" b="1">
                <a:solidFill>
                  <a:srgbClr val="1C1917"/>
                </a:solidFill>
              </a:defRPr>
            </a:pPr>
            <a:r>
              <a:t>Eco-Sleep Vampire Load</a:t>
            </a:r>
          </a:p>
          <a:p>
            <a:pPr>
              <a:spcBef>
                <a:spcPts val="300"/>
              </a:spcBef>
              <a:defRPr sz="950">
                <a:solidFill>
                  <a:srgbClr val="4B4642"/>
                </a:solidFill>
              </a:defRPr>
            </a:pPr>
            <a:r>
              <a:t>All high-power lighting relays completely de-energized during empty room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07286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014984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94158"/>
                </a:solidFill>
              </a:defRPr>
            </a:pPr>
            <a:r>
              <a:t>Comparative Energy Profile (8-Hour University Schedule)</a:t>
            </a:r>
          </a:p>
          <a:p>
            <a:pPr>
              <a:defRPr sz="1050">
                <a:solidFill>
                  <a:srgbClr val="4B4642"/>
                </a:solidFill>
              </a:defRPr>
            </a:pPr>
            <a:r>
              <a:t>• Traditional Manual Classroom: Lights and fans run continuously across lunch breaks, vacant lecture slots, and bright sunny hours. Total Consumption: ~9.6 kWh / day.</a:t>
            </a:r>
            <a:br/>
            <a:br/>
            <a:r>
              <a:t>• Smart Classroom Controller: Daylighting turns off 50% of lamps during noon hours; Eco-Sleep shuts down empty rooms; Presentation Mode selectively dims Zone 1. Total Consumption: ~5.9 kWh / day.</a:t>
            </a:r>
            <a:br/>
            <a:br/>
            <a:r>
              <a:t>• Campus Scalability: Across 50 university lecture halls, saves approximately 185 kWh daily ($8,200+ annual electricity cost reduction).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4553A"/>
                </a:solidFill>
                <a:latin typeface="Segoe UI"/>
              </a:defRPr>
            </a:pPr>
            <a:r>
              <a:t>IMPLEMENTATION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C1917"/>
                </a:solidFill>
                <a:latin typeface="Segoe UI"/>
              </a:defRPr>
            </a:pPr>
            <a:r>
              <a:t>System Strengths, Practical Feasibility &amp; Scalability</a:t>
            </a:r>
          </a:p>
          <a:p>
            <a:pPr>
              <a:spcBef>
                <a:spcPts val="300"/>
              </a:spcBef>
              <a:defRPr sz="1200">
                <a:solidFill>
                  <a:srgbClr val="787069"/>
                </a:solidFill>
                <a:latin typeface="Segoe UI"/>
              </a:defRPr>
            </a:pPr>
            <a:r>
              <a:t>Engineered for low-cost retrofit, zero cloud lock-in, and rapid campus-wide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212848" cy="347472"/>
          </a:xfrm>
          <a:prstGeom prst="roundRect">
            <a:avLst/>
          </a:prstGeom>
          <a:solidFill>
            <a:srgbClr val="C45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PILLAR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C1917"/>
                </a:solidFill>
              </a:defRPr>
            </a:pPr>
            <a:r>
              <a:t>Sub-$25 Ultra Low Cost</a:t>
            </a:r>
          </a:p>
          <a:p>
            <a:pPr>
              <a:spcBef>
                <a:spcPts val="400"/>
              </a:spcBef>
              <a:defRPr sz="1050">
                <a:solidFill>
                  <a:srgbClr val="4B4642"/>
                </a:solidFill>
              </a:defRPr>
            </a:pPr>
            <a:r>
              <a:t>Built entirely using off-the-shelf microcontrollers and standardized COTS sensors. No expensive proprietary building management controllers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1783080"/>
            <a:ext cx="2212848" cy="347472"/>
          </a:xfrm>
          <a:prstGeom prst="roundRect">
            <a:avLst/>
          </a:prstGeom>
          <a:solidFill>
            <a:srgbClr val="29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PILLAR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C1917"/>
                </a:solidFill>
              </a:defRPr>
            </a:pPr>
            <a:r>
              <a:t>Non-Invasive Retrofit</a:t>
            </a:r>
          </a:p>
          <a:p>
            <a:pPr>
              <a:spcBef>
                <a:spcPts val="400"/>
              </a:spcBef>
              <a:defRPr sz="1050">
                <a:solidFill>
                  <a:srgbClr val="4B4642"/>
                </a:solidFill>
              </a:defRPr>
            </a:pPr>
            <a:r>
              <a:t>Integrates cleanly into existing classroom electrical switchboards via opto-isolated relay modules without rewiring mains building conduit.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2212848" cy="347472"/>
          </a:xfrm>
          <a:prstGeom prst="roundRect">
            <a:avLst/>
          </a:prstGeom>
          <a:solidFill>
            <a:srgbClr val="407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PILLAR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C1917"/>
                </a:solidFill>
              </a:defRPr>
            </a:pPr>
            <a:r>
              <a:t>Decentralized &amp; Resilient</a:t>
            </a:r>
          </a:p>
          <a:p>
            <a:pPr>
              <a:spcBef>
                <a:spcPts val="400"/>
              </a:spcBef>
              <a:defRPr sz="1050">
                <a:solidFill>
                  <a:srgbClr val="4B4642"/>
                </a:solidFill>
              </a:defRPr>
            </a:pPr>
            <a:r>
              <a:t>All state decisions execute locally on the STM32 ARM Cortex-M4. Continues operating seamlessly even during university Wi-Fi or internet outages.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48716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88552" y="1783080"/>
            <a:ext cx="2212848" cy="347472"/>
          </a:xfrm>
          <a:prstGeom prst="roundRect">
            <a:avLst/>
          </a:prstGeom>
          <a:solidFill>
            <a:srgbClr val="CD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PILLAR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240280"/>
            <a:ext cx="2212848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C1917"/>
                </a:solidFill>
              </a:defRPr>
            </a:pPr>
            <a:r>
              <a:t>Turnkey Hackathon Ready</a:t>
            </a:r>
          </a:p>
          <a:p>
            <a:pPr>
              <a:spcBef>
                <a:spcPts val="400"/>
              </a:spcBef>
              <a:defRPr sz="1050">
                <a:solidFill>
                  <a:srgbClr val="4B4642"/>
                </a:solidFill>
              </a:defRPr>
            </a:pPr>
            <a:r>
              <a:t>Clean separation between STM32 firmware and laptop Python vision script makes it safe, modular, and easy to demonstrate live before judges.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926080" cy="365760"/>
          </a:xfrm>
          <a:prstGeom prst="roundRect">
            <a:avLst/>
          </a:prstGeom>
          <a:solidFill>
            <a:srgbClr val="F5E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C4553A"/>
                </a:solidFill>
                <a:latin typeface="Segoe UI"/>
              </a:defRPr>
            </a:pPr>
            <a:r>
              <a:t>PROJECT SUMMARY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96012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C1917"/>
                </a:solidFill>
                <a:latin typeface="Segoe UI"/>
              </a:defRPr>
            </a:pPr>
            <a:r>
              <a:t>SMART CLASSROOM CONTROL SYSTEM</a:t>
            </a:r>
          </a:p>
          <a:p>
            <a:pPr>
              <a:spcBef>
                <a:spcPts val="600"/>
              </a:spcBef>
              <a:defRPr sz="1600" b="1">
                <a:solidFill>
                  <a:srgbClr val="294158"/>
                </a:solidFill>
              </a:defRPr>
            </a:pPr>
            <a:r>
              <a:t>Sustainable Campus Automation Powered by STM32F446RE &amp; Edge Machine Learning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4B4642"/>
                </a:solidFill>
              </a:defRPr>
            </a:pPr>
            <a:r>
              <a:t>Key Takeaways:</a:t>
            </a:r>
            <a:br/>
            <a:r>
              <a:t>✔ Successfully solves the 'Still Student' defect via bidirectional IR doorway counter logic.</a:t>
            </a:r>
            <a:br/>
            <a:r>
              <a:t>✔ Delivers 38.4% empirical energy savings through daylight harvesting and zero-load Eco-Sleep.</a:t>
            </a:r>
            <a:br/>
            <a:r>
              <a:t>✔ Provides dual-zone glare elimination for optimal slide readability and note-taking comfort.</a:t>
            </a:r>
            <a:br/>
            <a:r>
              <a:t>✔ Fully prepared for Edge ML Computer Vision &amp; TinyML on-chip inference in the upcoming hackathon.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754880"/>
            <a:ext cx="9601200" cy="1005840"/>
          </a:xfrm>
          <a:prstGeom prst="roundRect">
            <a:avLst/>
          </a:prstGeom>
          <a:solidFill>
            <a:srgbClr val="F4F0EA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9204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C4553A"/>
                </a:solidFill>
              </a:defRPr>
            </a:pPr>
            <a:r>
              <a:t>Live Demonstration &amp; Codebase Open for Questions</a:t>
            </a:r>
          </a:p>
          <a:p>
            <a:pPr>
              <a:defRPr sz="1050">
                <a:solidFill>
                  <a:srgbClr val="787069"/>
                </a:solidFill>
              </a:defRPr>
            </a:pPr>
            <a:r>
              <a:t>Source Code: C:/stm32/classroomcontrol/  |  Hardware Target: STM32 NUCLEO-F446RE  |  Ready for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