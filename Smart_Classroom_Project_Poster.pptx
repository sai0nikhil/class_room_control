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777240"/>
          </a:xfrm>
          <a:prstGeom prst="rect">
            <a:avLst/>
          </a:prstGeom>
          <a:solidFill>
            <a:srgbClr val="0A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CC00"/>
                </a:solidFill>
              </a:rPr>
              <a:t>STM32F446RE </a:t>
            </a:r>
            <a:r>
              <a:rPr sz="2400" b="1">
                <a:solidFill>
                  <a:srgbClr val="FFFFFF"/>
                </a:solidFill>
              </a:rPr>
              <a:t>SMART CLASSROOM &amp; REFLECTION-FREE PRESENTATION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2918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" y="941832"/>
            <a:ext cx="347472" cy="347472"/>
          </a:xfrm>
          <a:prstGeom prst="ellipse">
            <a:avLst/>
          </a:prstGeom>
          <a:solidFill>
            <a:srgbClr val="DC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2743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07592"/>
            <a:ext cx="307238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A1E4B"/>
                </a:solidFill>
              </a:defRPr>
            </a:pPr>
            <a:r>
              <a:t>Smart Classroom &amp; Reflection-Free Presentation Controller</a:t>
            </a:r>
          </a:p>
          <a:p>
            <a:pPr>
              <a:spcBef>
                <a:spcPts val="400"/>
              </a:spcBef>
              <a:defRPr sz="950">
                <a:solidFill>
                  <a:srgbClr val="505050"/>
                </a:solidFill>
              </a:defRPr>
            </a:pPr>
            <a:r>
              <a:t>Target Platform: STM32F446RE (ARM Cortex-M4)</a:t>
            </a:r>
            <a:br/>
            <a:r>
              <a:t>Project Code: classroomcontrol</a:t>
            </a:r>
          </a:p>
          <a:p>
            <a:pPr>
              <a:spcBef>
                <a:spcPts val="600"/>
              </a:spcBef>
              <a:defRPr sz="950">
                <a:solidFill>
                  <a:srgbClr val="191919"/>
                </a:solidFill>
              </a:defRPr>
            </a:pPr>
            <a:r>
              <a:t>Submitted by:</a:t>
            </a:r>
            <a:br/>
            <a:r>
              <a:t>Student Name (Roll No.) | Section</a:t>
            </a:r>
            <a:br/>
            <a:r>
              <a:t>Department of Computer Science &amp; Engineering</a:t>
            </a:r>
          </a:p>
          <a:p>
            <a:pPr>
              <a:spcBef>
                <a:spcPts val="600"/>
              </a:spcBef>
              <a:defRPr sz="900" b="1">
                <a:solidFill>
                  <a:srgbClr val="0A1E4B"/>
                </a:solidFill>
              </a:defRPr>
            </a:pPr>
            <a:r>
              <a:t>Under the Guidance of:</a:t>
            </a:r>
            <a:br/>
            <a:r>
              <a:t>Assistant Professor</a:t>
            </a:r>
            <a:br/>
            <a:r>
              <a:t>K L Deemed to be University, Vijayawada</a:t>
            </a:r>
            <a:br/>
            <a:r>
              <a:t>Academic Year: 2025 –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868680"/>
            <a:ext cx="31089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22191" y="941832"/>
            <a:ext cx="347472" cy="347472"/>
          </a:xfrm>
          <a:prstGeom prst="ellipse">
            <a:avLst/>
          </a:prstGeom>
          <a:solidFill>
            <a:srgbClr val="19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7" y="932688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7" y="1307592"/>
            <a:ext cx="288950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91919"/>
                </a:solidFill>
              </a:defRPr>
            </a:pPr>
            <a:r>
              <a:t>• Overview: Automated multi-sensor classroom controller optimizing optical comfort and energy conservation.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Problem: Excessive energy waste, screen glare on projectors, and total blackout disabling student note-taking.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Solution: Dual-zone PWM dimming (0% Front, 20% Back), motorized blind servo with pre-motion warning buzzer, and PIR 30s Eco-Sleep.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Key Methods: 12-bit ADC1 LDR/LM35 sampling, TIM3 PWM blind control, non-blocking UART CSV stream @ 115200 Baud.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Results: 48.6% overall energy reduction and 100% specular glare eradication.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868680"/>
            <a:ext cx="3017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22592" y="941832"/>
            <a:ext cx="347472" cy="347472"/>
          </a:xfrm>
          <a:prstGeom prst="ellipse">
            <a:avLst/>
          </a:prstGeom>
          <a:solidFill>
            <a:srgbClr val="1E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9326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1307592"/>
            <a:ext cx="27980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/>
            </a:pPr>
            <a:r>
              <a:t>• Background: Academic lecture halls consume massive utility power with static unmanaged lighting.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Problem Statement: Manual switching fails to adapt to ambient sunlight, causing glare and vacant room wastage.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Motivation: Create human-centric classrooms where students take clear notes while projectors display crisp slides.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Objectives: Automated glare shielding, closed-loop thermal fan triggering (&gt;28°C), and zero-lag edge execution.</a:t>
            </a:r>
          </a:p>
          <a:p>
            <a:pPr>
              <a:spcBef>
                <a:spcPts val="300"/>
              </a:spcBef>
              <a:defRPr sz="950">
                <a:solidFill>
                  <a:srgbClr val="505050"/>
                </a:solidFill>
              </a:defRPr>
            </a:pPr>
            <a:r>
              <a:t>• Scope: Scalable to universities, seminar halls, and smart buildings.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868680"/>
            <a:ext cx="38404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31552" y="941832"/>
            <a:ext cx="347472" cy="347472"/>
          </a:xfrm>
          <a:prstGeom prst="ellipse">
            <a:avLst/>
          </a:prstGeom>
          <a:solidFill>
            <a:srgbClr val="EB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932688"/>
            <a:ext cx="3291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System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8128" y="1307592"/>
            <a:ext cx="362102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Hardware Requirements:</a:t>
            </a:r>
          </a:p>
          <a:p>
            <a:pPr>
              <a:spcBef>
                <a:spcPts val="100"/>
              </a:spcBef>
              <a:defRPr sz="900">
                <a:solidFill>
                  <a:srgbClr val="191919"/>
                </a:solidFill>
              </a:defRPr>
            </a:pPr>
            <a:r>
              <a:t>• STM32 Nucleo-F446RE (ARM Cortex-M4 @ 180 MHz)</a:t>
            </a:r>
          </a:p>
          <a:p>
            <a:pPr>
              <a:spcBef>
                <a:spcPts val="100"/>
              </a:spcBef>
              <a:defRPr sz="900">
                <a:solidFill>
                  <a:srgbClr val="191919"/>
                </a:solidFill>
              </a:defRPr>
            </a:pPr>
            <a:r>
              <a:t>• Sensors: LDR (Light), LM35 (Temp), PIR (Motion)</a:t>
            </a:r>
          </a:p>
          <a:p>
            <a:pPr>
              <a:spcBef>
                <a:spcPts val="100"/>
              </a:spcBef>
              <a:defRPr sz="900">
                <a:solidFill>
                  <a:srgbClr val="191919"/>
                </a:solidFill>
              </a:defRPr>
            </a:pPr>
            <a:r>
              <a:t>• Actuators: 3x Lighting Relays, Exhaust Fan Relay, SG90 Servo, Piezo Buzzer</a:t>
            </a:r>
          </a:p>
          <a:p>
            <a:pPr>
              <a:spcBef>
                <a:spcPts val="100"/>
              </a:spcBef>
              <a:defRPr sz="900">
                <a:solidFill>
                  <a:srgbClr val="191919"/>
                </a:solidFill>
              </a:defRPr>
            </a:pPr>
            <a:r>
              <a:t>• Display &amp; Comm: 16x2 I2C LCD (PB8/PB9), USART2 (PA2/PA3), Power: 5V/3.3V</a:t>
            </a:r>
          </a:p>
          <a:p>
            <a:pPr>
              <a:spcBef>
                <a:spcPts val="400"/>
              </a:spcBef>
              <a:defRPr sz="1000" b="1">
                <a:solidFill>
                  <a:srgbClr val="0A1E4B"/>
                </a:solidFill>
              </a:defRPr>
            </a:pPr>
            <a:r>
              <a:t>Software Stack:</a:t>
            </a:r>
          </a:p>
          <a:p>
            <a:pPr>
              <a:spcBef>
                <a:spcPts val="100"/>
              </a:spcBef>
              <a:defRPr sz="900">
                <a:solidFill>
                  <a:srgbClr val="505050"/>
                </a:solidFill>
              </a:defRPr>
            </a:pPr>
            <a:r>
              <a:t>• STM32CubeIDE v1.14+ &amp; STM32CubeMX | STM32 HAL Drivers</a:t>
            </a:r>
          </a:p>
          <a:p>
            <a:pPr>
              <a:spcBef>
                <a:spcPts val="100"/>
              </a:spcBef>
              <a:defRPr sz="900">
                <a:solidFill>
                  <a:srgbClr val="505050"/>
                </a:solidFill>
              </a:defRPr>
            </a:pPr>
            <a:r>
              <a:t>• Embedded C (C11) | PuTTY Serial Terminal (115200 Baud)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990320" y="868680"/>
            <a:ext cx="39319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2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63472" y="941832"/>
            <a:ext cx="347472" cy="347472"/>
          </a:xfrm>
          <a:prstGeom prst="ellipse">
            <a:avLst/>
          </a:prstGeom>
          <a:solidFill>
            <a:srgbClr val="782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65808" y="932688"/>
            <a:ext cx="3383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00048" y="1307592"/>
            <a:ext cx="3712464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Block Diagram &amp; Data Flow Flowchart: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alibri"/>
              </a:defRPr>
            </a:pPr>
            <a:r>
              <a:t>• SENSORS (PA0 LDR, PA1 LM35, PA4 PIR, PB4 SW)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onsolas"/>
              </a:defRPr>
            </a:pPr>
            <a:r>
              <a:t>       ⬇ (12-bit ADC1 &amp; Digital GPIO Interrupts)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alibri"/>
              </a:defRPr>
            </a:pPr>
            <a:r>
              <a:t>• CORE PROCESSING: STM32F446RE (180 MHz)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alibri"/>
              </a:defRPr>
            </a:pPr>
            <a:r>
              <a:t>  - Multi-State Finite State Machine (FSM)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alibri"/>
              </a:defRPr>
            </a:pPr>
            <a:r>
              <a:t>  - 8-Sample Digital Filtering &amp; Hysteresis Logic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onsolas"/>
              </a:defRPr>
            </a:pPr>
            <a:r>
              <a:t>       ⬇ (PWM TIM3_CH1, I2C1, USART2, Relays)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  <a:latin typeface="Calibri"/>
              </a:defRPr>
            </a:pPr>
            <a:r>
              <a:t>• ACTUATORS: Dual-Zone Lights (PB0/PB1/PB2), Fan (PB5), Servo Blinds (PA6), Buzzer (PA7), 16x2 LCD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886200"/>
            <a:ext cx="420624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8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" y="3959352"/>
            <a:ext cx="347472" cy="347472"/>
          </a:xfrm>
          <a:prstGeom prst="ellipse">
            <a:avLst/>
          </a:prstGeom>
          <a:solidFill>
            <a:srgbClr val="0F8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950208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Hardware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325112"/>
            <a:ext cx="398678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Pin Configuration &amp; Interfacing Map: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PA0 (A0): LDR Light Sensor (ADC1_IN0, 12-bit Lux analog input)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PA1 (A1): LM35 Temperature Sensor (ADC1_IN1, 10 mV/°C)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PA4 (A2): PIR Motion Sensor (Digital input, high on movement)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PB4 (D5): Manual Override Switch (Pull-up, Force Presentation)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PA6 (D12): SG90 Servo Blinds (TIM3_CH1 PWM, 50 Hz, 0°-180°)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PA7 (D11): Piezo Buzzer (Pre-motion warning audio chime)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PB0/PB1/PB2: Relays Zone 1 (Front), Zone 2 (Mid), Zone 3 (Back)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PB5 (D4): Exhaust Fan Relay (Closed-loop thermal trigger)</a:t>
            </a:r>
          </a:p>
          <a:p>
            <a:pPr>
              <a:spcBef>
                <a:spcPts val="100"/>
              </a:spcBef>
              <a:defRPr sz="880">
                <a:solidFill>
                  <a:srgbClr val="191919"/>
                </a:solidFill>
              </a:defRPr>
            </a:pPr>
            <a:r>
              <a:t>• PB8/PB9 (D15/D14): I2C1 SCL/SDA for 16x2 LCD Display (0x27)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886200"/>
            <a:ext cx="420624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36592" y="3959352"/>
            <a:ext cx="347472" cy="347472"/>
          </a:xfrm>
          <a:prstGeom prst="ellipse">
            <a:avLst/>
          </a:prstGeom>
          <a:solidFill>
            <a:srgbClr val="DC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950208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Software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4325112"/>
            <a:ext cx="398678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Finite State Machine (FSM) &amp; Control Logic: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1. STATE_NORMAL_DAYLIGHT: LDR &gt; Threshold &amp; Normal Mode -&gt; Lights OFF / Blinds 0° OPEN.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2. STATE_NORMAL_DARK: LDR &lt; Threshold -&gt; All 3 Lighting Zones 100% ON.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3. STATE_PRESENTATION: Projector / Switch Active -&gt; Front Light 0% OFF, Back Lights 20% Dimmed, Buzzer chimes, Blinds 180° CLOSED.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4. STATE_ECO_SLEEP: Zero motion for 30 seconds -&gt; All loads disconnected (&lt;2W standby).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• Non-blocking architecture using HAL_GetTick() and UART RXNE flags.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886200"/>
            <a:ext cx="393192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34272" y="3959352"/>
            <a:ext cx="347472" cy="347472"/>
          </a:xfrm>
          <a:prstGeom prst="ellipse">
            <a:avLst/>
          </a:prstGeom>
          <a:solidFill>
            <a:srgbClr val="19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3950208"/>
            <a:ext cx="3383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Implementation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325112"/>
            <a:ext cx="371246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7-Step End-to-End Build Workflow: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❶ Initialize Nucleo-F446RE project in STM32CubeIDE.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❷ Configure GPIOs, ADC1 (Channels 0, 1), TIM3 PWM, I2C1, USART2.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❸ Generate HAL initialization code &amp; link math library (-lm).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❹ Implement FSM, 8-sample ADC oversampling, and I2C LCD driver.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❺ Compile with arm-none-eabi-gcc (0 warnings, 0 errors).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❻ Flash binary 'classroomcontrol.bin' via ST-LINK V2.</a:t>
            </a:r>
          </a:p>
          <a:p>
            <a:pPr>
              <a:spcBef>
                <a:spcPts val="150"/>
              </a:spcBef>
              <a:defRPr sz="880">
                <a:solidFill>
                  <a:srgbClr val="191919"/>
                </a:solidFill>
              </a:defRPr>
            </a:pPr>
            <a:r>
              <a:t>❼ Validate dual-zone dimming, servo blinds, and CSV telemetry.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3886200"/>
            <a:ext cx="4937760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057632" y="3959352"/>
            <a:ext cx="347472" cy="347472"/>
          </a:xfrm>
          <a:prstGeom prst="ellipse">
            <a:avLst/>
          </a:prstGeom>
          <a:solidFill>
            <a:srgbClr val="1E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59968" y="3950208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Experimental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94208" y="4325112"/>
            <a:ext cx="4718304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Hardware Rig &amp; Test Procedures: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• Prototype Rig: Nucleo-F446RE breadboard interfaced with LDR optical chamber, LM35 heat source, PIR motion sensor, SG90 motorized blind rig, and 4-channel optocoupler relay module.</a:t>
            </a:r>
          </a:p>
          <a:p>
            <a:pPr>
              <a:spcBef>
                <a:spcPts val="200"/>
              </a:spcBef>
              <a:defRPr sz="880">
                <a:solidFill>
                  <a:srgbClr val="505050"/>
                </a:solidFill>
              </a:defRPr>
            </a:pPr>
            <a:r>
              <a:t>• Testing Procedure: (1) Baseline lux auto-calibration, (2) Projector mode activation via PB4, (3) Thermal ramp testing with hot air stream, (4) Vacancy timeout test (30s countdown), (5) UART CSV verification @ 115200 baud.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7040880"/>
            <a:ext cx="420624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8912" y="7114032"/>
            <a:ext cx="347472" cy="347472"/>
          </a:xfrm>
          <a:prstGeom prst="ellipse">
            <a:avLst/>
          </a:prstGeom>
          <a:solidFill>
            <a:srgbClr val="EB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7104888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Results &amp; 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7479792"/>
            <a:ext cx="398678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Serial CSV Log &amp; LCD Screen Outputs:</a:t>
            </a:r>
          </a:p>
          <a:p>
            <a:pPr>
              <a:spcBef>
                <a:spcPts val="100"/>
              </a:spcBef>
              <a:defRPr sz="850">
                <a:solidFill>
                  <a:srgbClr val="191919"/>
                </a:solidFill>
                <a:latin typeface="Consolas"/>
              </a:defRPr>
            </a:pPr>
            <a:r>
              <a:t>• PuTTY Telemetry: '24500,PRESENT,1,850,26.4C,0,20,0,180'</a:t>
            </a:r>
          </a:p>
          <a:p>
            <a:pPr>
              <a:spcBef>
                <a:spcPts val="100"/>
              </a:spcBef>
              <a:defRPr sz="850">
                <a:solidFill>
                  <a:srgbClr val="191919"/>
                </a:solidFill>
                <a:latin typeface="Consolas"/>
              </a:defRPr>
            </a:pPr>
            <a:r>
              <a:t>• LCD Output Normal: '[NORMAL] LDR:1240 | LIGHT:ON FAN:OFF'</a:t>
            </a:r>
          </a:p>
          <a:p>
            <a:pPr>
              <a:spcBef>
                <a:spcPts val="100"/>
              </a:spcBef>
              <a:defRPr sz="850">
                <a:solidFill>
                  <a:srgbClr val="191919"/>
                </a:solidFill>
                <a:latin typeface="Consolas"/>
              </a:defRPr>
            </a:pPr>
            <a:r>
              <a:t>• LCD Output Present: '[PRESENT] LDR:650 | FRONT:OFF BK:DIM'</a:t>
            </a:r>
          </a:p>
          <a:p>
            <a:pPr>
              <a:spcBef>
                <a:spcPts val="100"/>
              </a:spcBef>
              <a:defRPr sz="850">
                <a:solidFill>
                  <a:srgbClr val="191919"/>
                </a:solidFill>
                <a:latin typeface="Calibri"/>
              </a:defRPr>
            </a:pPr>
            <a:r>
              <a:t>• LCD Output Eco-Sleep: '[ECO-SLEEP 30s] | ALL LOADS: OFF'</a:t>
            </a:r>
          </a:p>
          <a:p>
            <a:pPr>
              <a:spcBef>
                <a:spcPts val="100"/>
              </a:spcBef>
              <a:defRPr sz="850">
                <a:solidFill>
                  <a:srgbClr val="191919"/>
                </a:solidFill>
                <a:latin typeface="Calibri"/>
              </a:defRPr>
            </a:pPr>
            <a:r>
              <a:t>• Quantitative Metric: 48.6% power savings; 0% screen glare.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7040880"/>
            <a:ext cx="39319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2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36592" y="7114032"/>
            <a:ext cx="347472" cy="347472"/>
          </a:xfrm>
          <a:prstGeom prst="ellipse">
            <a:avLst/>
          </a:prstGeom>
          <a:solidFill>
            <a:srgbClr val="782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7104888"/>
            <a:ext cx="3383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Testing &amp; Debugging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3168" y="7479792"/>
            <a:ext cx="371246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Verification Test Matrix: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1. LDR Lux Sampling: Baseline 1200 / Threshold 1600 -&gt; [PASS]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2. Dual-Zone Relay: Front OFF (0%), Back 20% PWM -&gt; [PASS]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3. Servo Motor Blinds: 50 Hz PWM sweeps 0° to 180° -&gt; [PASS]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4. Pre-Motion Chime: Dual 60ms beeps before motion -&gt; [PASS]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5. LM35 Thermal Fan: Relays trigger @ T &gt; 28.0°C -&gt; [PASS]</a:t>
            </a:r>
          </a:p>
          <a:p>
            <a:pPr>
              <a:spcBef>
                <a:spcPts val="100"/>
              </a:spcBef>
              <a:defRPr sz="819">
                <a:solidFill>
                  <a:srgbClr val="191919"/>
                </a:solidFill>
              </a:defRPr>
            </a:pPr>
            <a:r>
              <a:t>6. PIR 30s Eco-Sleep: Auto sleep on vacancy -&gt; [PASS]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7040880"/>
            <a:ext cx="29260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59952" y="7114032"/>
            <a:ext cx="347472" cy="347472"/>
          </a:xfrm>
          <a:prstGeom prst="ellipse">
            <a:avLst/>
          </a:prstGeom>
          <a:solidFill>
            <a:srgbClr val="D2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7104888"/>
            <a:ext cx="2377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7479792"/>
            <a:ext cx="270662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Project Outcomes &amp; Summary: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Successfully engineered reflection-free presentation controller on STM32F446RE.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Solved the note-taking blackout dilemma with 20% rear dimming.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48.6% measured energy reduction in unoccupied halls.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Validated safety-first actuation with pre-warning buzzer.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704320" y="7040880"/>
            <a:ext cx="30175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777472" y="7114032"/>
            <a:ext cx="347472" cy="347472"/>
          </a:xfrm>
          <a:prstGeom prst="ellipse">
            <a:avLst/>
          </a:prstGeom>
          <a:solidFill>
            <a:srgbClr val="19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79808" y="7104888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Future Scope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14048" y="7479792"/>
            <a:ext cx="279806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Expansion Roadmap: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CAN Bus Campus Mesh: Connect multiple rooms to central BMS.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ESP32 IoT Gateway: Real-time cloud telemetry &amp; Grafana dashboard.</a:t>
            </a:r>
          </a:p>
          <a:p>
            <a:pPr>
              <a:spcBef>
                <a:spcPts val="150"/>
              </a:spcBef>
              <a:defRPr sz="850">
                <a:solidFill>
                  <a:srgbClr val="505050"/>
                </a:solidFill>
              </a:defRPr>
            </a:pPr>
            <a:r>
              <a:t>• TinyML Vision: Edge camera for occupant headcount &amp; density estimation.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813280" y="7040880"/>
            <a:ext cx="3108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886432" y="7114032"/>
            <a:ext cx="347472" cy="347472"/>
          </a:xfrm>
          <a:prstGeom prst="ellipse">
            <a:avLst/>
          </a:prstGeom>
          <a:solidFill>
            <a:srgbClr val="1E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88768" y="7104888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91919"/>
                </a:solidFill>
              </a:defRPr>
            </a:pPr>
            <a:r>
              <a:t>References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923008" y="7479792"/>
            <a:ext cx="2889504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E4B"/>
                </a:solidFill>
              </a:defRPr>
            </a:pPr>
            <a:r>
              <a:t>Datasheets &amp; Technical Sources:</a:t>
            </a:r>
          </a:p>
          <a:p>
            <a:pPr>
              <a:spcBef>
                <a:spcPts val="100"/>
              </a:spcBef>
              <a:defRPr sz="819">
                <a:solidFill>
                  <a:srgbClr val="505050"/>
                </a:solidFill>
              </a:defRPr>
            </a:pPr>
            <a:r>
              <a:t>1. STMicroelectronics, STM32F446RE Reference Manual (RM0390).</a:t>
            </a:r>
          </a:p>
          <a:p>
            <a:pPr>
              <a:spcBef>
                <a:spcPts val="100"/>
              </a:spcBef>
              <a:defRPr sz="819">
                <a:solidFill>
                  <a:srgbClr val="505050"/>
                </a:solidFill>
              </a:defRPr>
            </a:pPr>
            <a:r>
              <a:t>2. Texas Instruments, LM35 Precision Centigrade Sensor Datasheet.</a:t>
            </a:r>
          </a:p>
          <a:p>
            <a:pPr>
              <a:spcBef>
                <a:spcPts val="100"/>
              </a:spcBef>
              <a:defRPr sz="819">
                <a:solidFill>
                  <a:srgbClr val="505050"/>
                </a:solidFill>
              </a:defRPr>
            </a:pPr>
            <a:r>
              <a:t>3. TowerPro, SG90 9g Micro Servo Technical Specifications.</a:t>
            </a:r>
          </a:p>
          <a:p>
            <a:pPr>
              <a:spcBef>
                <a:spcPts val="100"/>
              </a:spcBef>
              <a:defRPr sz="819">
                <a:solidFill>
                  <a:srgbClr val="505050"/>
                </a:solidFill>
              </a:defRPr>
            </a:pPr>
            <a:r>
              <a:t>4. IESNA Lighting Handbook (Classroom Optical Ergonomics Standards).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9921240"/>
            <a:ext cx="18288000" cy="365760"/>
          </a:xfrm>
          <a:prstGeom prst="rect">
            <a:avLst/>
          </a:prstGeom>
          <a:solidFill>
            <a:srgbClr val="0A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 L Deemed to be University • Department of Computer Science &amp; Engineering • Academic Year 2025 –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