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3716000" cy="777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CIRCUIT CONNECTION SCHEMATIC &amp; PIN INTERFACE MAP
</a:t>
            </a:r>
            <a:r>
              <a:rPr sz="1200" b="1">
                <a:solidFill>
                  <a:srgbClr val="FFCC00"/>
                </a:solidFill>
              </a:rPr>
              <a:t>STM32F446RE (NUCLEO-64) • SMART CLASSROOM &amp; PRESENTATION 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417320"/>
            <a:ext cx="4389120" cy="6309360"/>
          </a:xfrm>
          <a:prstGeom prst="roundRect">
            <a:avLst/>
          </a:prstGeom>
          <a:solidFill>
            <a:srgbClr val="F8F9FA"/>
          </a:solidFill>
          <a:ln w="444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 rIns="109728" bIns="91440"/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STM32 NUCLEO-F446RE</a:t>
            </a:r>
          </a:p>
          <a:p>
            <a:pPr algn="ctr">
              <a:spcBef>
                <a:spcPts val="200"/>
              </a:spcBef>
              <a:defRPr sz="900">
                <a:solidFill>
                  <a:srgbClr val="505050"/>
                </a:solidFill>
              </a:defRPr>
            </a:pPr>
            <a:r>
              <a:t>ARM Cortex-M4 @ 180 MHz • 12-Bit ADC • TIM3 PWM • I2C1 • USART2</a:t>
            </a:r>
          </a:p>
          <a:p>
            <a:br/>
            <a:pPr>
              <a:defRPr sz="1000" b="1">
                <a:solidFill>
                  <a:srgbClr val="1450B4"/>
                </a:solidFill>
              </a:defRPr>
            </a:pPr>
            <a:r>
              <a:t>--- [LEFT HEADERS: ANALOG &amp; INPUTS] ---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◄ PA0 (A0)  : ADC1_IN0 (LDR Light Sensor)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◄ PA1 (A1)  : ADC1_IN1 (LM35 Temp Sensor)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◄ PA4 (A2)  : GPIO IN  (PIR Motion Sensor)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◄ PB4 (D5)  : GPIO IN  (Manual Switch / Pull-Up)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◄ PC13 (B1) : User Button (Baseline Recalibrate)</a:t>
            </a:r>
          </a:p>
          <a:p>
            <a:br/>
            <a:pPr>
              <a:spcBef>
                <a:spcPts val="400"/>
              </a:spcBef>
              <a:defRPr sz="1000" b="1">
                <a:solidFill>
                  <a:srgbClr val="C81E1E"/>
                </a:solidFill>
              </a:defRPr>
            </a:pPr>
            <a:r>
              <a:t>--- [RIGHT HEADERS: PWM &amp; ACTUATORS] ---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PB0 (D3)  : Front Light Relay 1 (0% Glare Shield)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PB1 (D6)  : Mid Light Relay 2   (20% Note Dim)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PB2 (D7)  : Back Light Relay 3  (20% Note Dim)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PB5 (D4)  : Exhaust Fan Relay 4 (Trigger &gt;28°C)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PA6 (D12) : TIM3_CH1 PWM        (SG90 Servo 0°-180°)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PA7 (D11) : GPIO OUT            (Warning Piezo Buzzer)</a:t>
            </a:r>
          </a:p>
          <a:p>
            <a:br/>
            <a:pPr>
              <a:spcBef>
                <a:spcPts val="400"/>
              </a:spcBef>
              <a:defRPr sz="1000" b="1">
                <a:solidFill>
                  <a:srgbClr val="1E8C32"/>
                </a:solidFill>
              </a:defRPr>
            </a:pPr>
            <a:r>
              <a:t>--- [BUS HEADERS: I2C &amp; SERIAL] ---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PB8 (D15) : I2C1_SCL (16x2 LCD Clock)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PB9 (D14) : I2C1_SDA (16x2 LCD Data)</a:t>
            </a:r>
          </a:p>
          <a:p>
            <a:pPr>
              <a:spcBef>
                <a:spcPts val="200"/>
              </a:spcBef>
              <a:defRPr sz="950" b="1">
                <a:solidFill>
                  <a:srgbClr val="191919"/>
                </a:solidFill>
                <a:latin typeface="Consolas"/>
              </a:defRPr>
            </a:pPr>
            <a:r>
              <a:t>► PA2 / PA3 : USART2 TX/RX (115200 Baud Console)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41148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 rIns="109728" bIns="91440"/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LDR LIGHT SENSOR MODULE</a:t>
            </a:r>
          </a:p>
          <a:p>
            <a:pPr algn="ctr">
              <a:spcBef>
                <a:spcPts val="200"/>
              </a:spcBef>
              <a:defRPr sz="900">
                <a:solidFill>
                  <a:srgbClr val="505050"/>
                </a:solidFill>
              </a:defRPr>
            </a:pPr>
            <a:r>
              <a:t>Ambient Lux Measurement</a:t>
            </a:r>
          </a:p>
          <a:p>
            <a:pPr>
              <a:defRPr sz="900" b="1">
                <a:solidFill>
                  <a:srgbClr val="0A0A0A"/>
                </a:solidFill>
                <a:latin typeface="Consolas"/>
              </a:defRPr>
            </a:pPr>
            <a:r>
              <a:t>• VCC  --&gt;  (+) 3.3V Rail</a:t>
            </a:r>
            <a:br/>
            <a:r>
              <a:t>• GND  --&gt;  (-) GND Rail</a:t>
            </a:r>
            <a:br/>
            <a:r>
              <a:t>• AO   ===================&gt;  PA0 (A0) [ADC1_IN0]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41148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 rIns="109728" bIns="91440"/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LM35 TEMPERATURE SENSOR</a:t>
            </a:r>
          </a:p>
          <a:p>
            <a:pPr algn="ctr">
              <a:spcBef>
                <a:spcPts val="200"/>
              </a:spcBef>
              <a:defRPr sz="900">
                <a:solidFill>
                  <a:srgbClr val="505050"/>
                </a:solidFill>
              </a:defRPr>
            </a:pPr>
            <a:r>
              <a:t>Linear 10 mV / °C Output</a:t>
            </a:r>
          </a:p>
          <a:p>
            <a:pPr>
              <a:defRPr sz="900" b="1">
                <a:solidFill>
                  <a:srgbClr val="0A0A0A"/>
                </a:solidFill>
                <a:latin typeface="Consolas"/>
              </a:defRPr>
            </a:pPr>
            <a:r>
              <a:t>• Pin 1 (+Vs)  --&gt;  (+) 3.3V Rail</a:t>
            </a:r>
            <a:br/>
            <a:r>
              <a:t>• Pin 3 (GND)  --&gt;  (-) GND Rail</a:t>
            </a:r>
            <a:br/>
            <a:r>
              <a:t>• Pin 2 (Vout) ===============&gt;  PA1 (A1) [ADC1_IN1]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26280"/>
            <a:ext cx="4114800" cy="14630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 rIns="109728" bIns="91440"/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PIR MOTION SENSOR (HC-SR501)</a:t>
            </a:r>
          </a:p>
          <a:p>
            <a:pPr algn="ctr">
              <a:spcBef>
                <a:spcPts val="200"/>
              </a:spcBef>
              <a:defRPr sz="900">
                <a:solidFill>
                  <a:srgbClr val="505050"/>
                </a:solidFill>
              </a:defRPr>
            </a:pPr>
            <a:r>
              <a:t>30-Second Vacancy / Occupancy Detection</a:t>
            </a:r>
          </a:p>
          <a:p>
            <a:pPr>
              <a:defRPr sz="900" b="1">
                <a:solidFill>
                  <a:srgbClr val="0A0A0A"/>
                </a:solidFill>
                <a:latin typeface="Consolas"/>
              </a:defRPr>
            </a:pPr>
            <a:r>
              <a:t>• VCC  --&gt;  (+) 5.0V Rail</a:t>
            </a:r>
            <a:br/>
            <a:r>
              <a:t>• GND  --&gt;  (-) GND Rail</a:t>
            </a:r>
            <a:br/>
            <a:r>
              <a:t>• OUT  ===================&gt;  PA4 (A2) [Digital In]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6172200"/>
            <a:ext cx="4114800" cy="15544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 rIns="109728" bIns="91440"/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MANUAL OVERRIDE SWITCH</a:t>
            </a:r>
          </a:p>
          <a:p>
            <a:pPr algn="ctr">
              <a:spcBef>
                <a:spcPts val="200"/>
              </a:spcBef>
              <a:defRPr sz="900">
                <a:solidFill>
                  <a:srgbClr val="505050"/>
                </a:solidFill>
              </a:defRPr>
            </a:pPr>
            <a:r>
              <a:t>Force Presentation Mode Toggle</a:t>
            </a:r>
          </a:p>
          <a:p>
            <a:pPr>
              <a:defRPr sz="900" b="1">
                <a:solidFill>
                  <a:srgbClr val="0A0A0A"/>
                </a:solidFill>
                <a:latin typeface="Consolas"/>
              </a:defRPr>
            </a:pPr>
            <a:r>
              <a:t>• Pin 1  --&gt;  (-) GND Rail</a:t>
            </a:r>
            <a:br/>
            <a:r>
              <a:t>• Pin 2  =================&gt;  PB4 (D5) [Pull-Up In]</a:t>
            </a:r>
            <a:br/>
            <a:r>
              <a:t>[ Open = Auto Mode | Closed to GND = Presentation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417320"/>
            <a:ext cx="4114800" cy="2651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 rIns="109728" bIns="91440"/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4-CHANNEL 5V RELAY MODULE</a:t>
            </a:r>
          </a:p>
          <a:p>
            <a:pPr algn="ctr">
              <a:spcBef>
                <a:spcPts val="200"/>
              </a:spcBef>
              <a:defRPr sz="900">
                <a:solidFill>
                  <a:srgbClr val="505050"/>
                </a:solidFill>
              </a:defRPr>
            </a:pPr>
            <a:r>
              <a:t>Optocoupler Isolated AC/DC Load Controller</a:t>
            </a:r>
          </a:p>
          <a:p>
            <a:pPr>
              <a:defRPr sz="880" b="1">
                <a:solidFill>
                  <a:srgbClr val="0A0A0A"/>
                </a:solidFill>
                <a:latin typeface="Consolas"/>
              </a:defRPr>
            </a:pPr>
            <a:r>
              <a:t>• VCC  --&gt;  (+) 5.0V Rail  |  GND --&gt; (-) GND</a:t>
            </a:r>
            <a:br/>
            <a:r>
              <a:t>• IN1  &lt;===================  PB0 (D3) [Front Light]</a:t>
            </a:r>
            <a:br/>
            <a:r>
              <a:t>• IN2  &lt;===================  PB1 (D6) [Mid Light]</a:t>
            </a:r>
            <a:br/>
            <a:r>
              <a:t>• IN3  &lt;===================  PB2 (D7) [Back Light]</a:t>
            </a:r>
            <a:br/>
            <a:r>
              <a:t>• IN4  &lt;===================  PB5 (D4) [Exhaust Fan]</a:t>
            </a:r>
            <a:br/>
            <a:r>
              <a:t>• Relay 1: Front Light OFF (0% Glare Shield)</a:t>
            </a:r>
            <a:br/>
            <a:r>
              <a:t>• Relay 2 &amp; 3: Mid/Back Lights (20% Note Dimming)</a:t>
            </a:r>
            <a:br/>
            <a:r>
              <a:t>• Relay 4: Fan ON when Temp &gt; 28.0°C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4251960"/>
            <a:ext cx="411480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 rIns="109728" bIns="91440"/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SG90 SERVO MOTOR (WINDOW BLINDS)</a:t>
            </a:r>
          </a:p>
          <a:p>
            <a:pPr algn="ctr">
              <a:spcBef>
                <a:spcPts val="200"/>
              </a:spcBef>
              <a:defRPr sz="900">
                <a:solidFill>
                  <a:srgbClr val="505050"/>
                </a:solidFill>
              </a:defRPr>
            </a:pPr>
            <a:r>
              <a:t>Motorized Glare Shielding (50 Hz PWM)</a:t>
            </a:r>
          </a:p>
          <a:p>
            <a:pPr>
              <a:defRPr sz="900" b="1">
                <a:solidFill>
                  <a:srgbClr val="0A0A0A"/>
                </a:solidFill>
                <a:latin typeface="Consolas"/>
              </a:defRPr>
            </a:pPr>
            <a:r>
              <a:t>• Red (VCC)    --&gt;  (+) 5.0V Rail</a:t>
            </a:r>
            <a:br/>
            <a:r>
              <a:t>• Brown (GND)  --&gt;  (-) GND Rail</a:t>
            </a:r>
            <a:br/>
            <a:r>
              <a:t>• Orange (PWM) &lt;==============  PA6 (D12) [TIM3_CH1]</a:t>
            </a:r>
            <a:br/>
            <a:r>
              <a:t>[ 0° = Blinds Open | 90°/180° = Blinds Closed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6126480"/>
            <a:ext cx="4114800" cy="1600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 rIns="109728" bIns="91440"/>
          <a:lstStyle/>
          <a:p>
            <a:pPr algn="ctr">
              <a:defRPr sz="1100" b="1">
                <a:solidFill>
                  <a:srgbClr val="0A0A0A"/>
                </a:solidFill>
              </a:defRPr>
            </a:pPr>
            <a:r>
              <a:t>BUZZER &amp; 16x2 I2C LCD DISPLAY</a:t>
            </a:r>
          </a:p>
          <a:p>
            <a:pPr algn="ctr">
              <a:spcBef>
                <a:spcPts val="200"/>
              </a:spcBef>
              <a:defRPr sz="900">
                <a:solidFill>
                  <a:srgbClr val="505050"/>
                </a:solidFill>
              </a:defRPr>
            </a:pPr>
            <a:r>
              <a:t>Audio Warning Chime &amp; Visual Telemetry</a:t>
            </a:r>
          </a:p>
          <a:p>
            <a:pPr>
              <a:defRPr sz="900" b="1">
                <a:solidFill>
                  <a:srgbClr val="0A0A0A"/>
                </a:solidFill>
                <a:latin typeface="Consolas"/>
              </a:defRPr>
            </a:pPr>
            <a:r>
              <a:t>• Buzzer (+)   &lt;==============  PA7 (D11) [GPIO]</a:t>
            </a:r>
            <a:br/>
            <a:r>
              <a:t>• LCD SCL (D15) &lt;=============  PB8 (I2C1_SCL)</a:t>
            </a:r>
            <a:br/>
            <a:r>
              <a:t>• LCD SDA (D14) &lt;=============  PB9 (I2C1_SDA)</a:t>
            </a:r>
            <a:br/>
            <a:r>
              <a:t>• LCD VCC / GND --&gt;  (+) 5V / (-) GND (Addr: 0x27)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